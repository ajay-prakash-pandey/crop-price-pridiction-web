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02D"/>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2926080" cy="365760"/>
          </a:xfrm>
          <a:prstGeom prst="rect">
            <a:avLst/>
          </a:prstGeom>
          <a:noFill/>
        </p:spPr>
        <p:txBody>
          <a:bodyPr wrap="square" lIns="73152" rIns="73152" tIns="73152" bIns="73152" anchor="ctr">
            <a:spAutoFit/>
          </a:bodyPr>
          <a:lstStyle/>
          <a:p>
            <a:pPr algn="l"/>
            <a:r>
              <a:rPr sz="1400" b="1">
                <a:solidFill>
                  <a:srgbClr val="F4B43E"/>
                </a:solidFill>
                <a:latin typeface="Aptos"/>
              </a:rPr>
              <a:t>BCA FINAL-YEAR PROJECT</a:t>
            </a:r>
          </a:p>
        </p:txBody>
      </p:sp>
      <p:sp>
        <p:nvSpPr>
          <p:cNvPr id="4" name="TextBox 3"/>
          <p:cNvSpPr txBox="1"/>
          <p:nvPr/>
        </p:nvSpPr>
        <p:spPr>
          <a:xfrm>
            <a:off x="822960" y="1234440"/>
            <a:ext cx="6858000" cy="914400"/>
          </a:xfrm>
          <a:prstGeom prst="rect">
            <a:avLst/>
          </a:prstGeom>
          <a:noFill/>
        </p:spPr>
        <p:txBody>
          <a:bodyPr wrap="square" lIns="73152" rIns="73152" tIns="73152" bIns="73152" anchor="ctr">
            <a:spAutoFit/>
          </a:bodyPr>
          <a:lstStyle/>
          <a:p>
            <a:pPr algn="l"/>
            <a:r>
              <a:rPr sz="4800" b="1">
                <a:solidFill>
                  <a:srgbClr val="FFFFFF"/>
                </a:solidFill>
                <a:latin typeface="Aptos"/>
              </a:rPr>
              <a:t>CropSmart</a:t>
            </a:r>
          </a:p>
        </p:txBody>
      </p:sp>
      <p:sp>
        <p:nvSpPr>
          <p:cNvPr id="5" name="TextBox 4"/>
          <p:cNvSpPr txBox="1"/>
          <p:nvPr/>
        </p:nvSpPr>
        <p:spPr>
          <a:xfrm>
            <a:off x="822960" y="2057400"/>
            <a:ext cx="8046720" cy="822960"/>
          </a:xfrm>
          <a:prstGeom prst="rect">
            <a:avLst/>
          </a:prstGeom>
          <a:noFill/>
        </p:spPr>
        <p:txBody>
          <a:bodyPr wrap="square" lIns="73152" rIns="73152" tIns="73152" bIns="73152" anchor="ctr">
            <a:spAutoFit/>
          </a:bodyPr>
          <a:lstStyle/>
          <a:p>
            <a:pPr algn="l"/>
            <a:r>
              <a:rPr sz="2700" b="1">
                <a:solidFill>
                  <a:srgbClr val="E2F4EB"/>
                </a:solidFill>
                <a:latin typeface="Aptos"/>
              </a:rPr>
              <a:t>Crop Price Prediction and
Market Intelligence System</a:t>
            </a:r>
          </a:p>
        </p:txBody>
      </p:sp>
      <p:sp>
        <p:nvSpPr>
          <p:cNvPr id="6" name="Rounded Rectangle 5"/>
          <p:cNvSpPr/>
          <p:nvPr/>
        </p:nvSpPr>
        <p:spPr>
          <a:xfrm>
            <a:off x="8961120" y="1051560"/>
            <a:ext cx="2011680" cy="2011680"/>
          </a:xfrm>
          <a:prstGeom prst="round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35440" y="1389888"/>
            <a:ext cx="1463040" cy="548640"/>
          </a:xfrm>
          <a:prstGeom prst="rect">
            <a:avLst/>
          </a:prstGeom>
          <a:noFill/>
        </p:spPr>
        <p:txBody>
          <a:bodyPr wrap="square" lIns="73152" rIns="73152" tIns="73152" bIns="73152" anchor="ctr">
            <a:spAutoFit/>
          </a:bodyPr>
          <a:lstStyle/>
          <a:p>
            <a:pPr algn="ctr"/>
            <a:r>
              <a:rPr sz="3900" b="1">
                <a:solidFill>
                  <a:srgbClr val="FFFFFF"/>
                </a:solidFill>
                <a:latin typeface="Aptos"/>
              </a:rPr>
              <a:t>CS</a:t>
            </a:r>
          </a:p>
        </p:txBody>
      </p:sp>
      <p:sp>
        <p:nvSpPr>
          <p:cNvPr id="8" name="TextBox 7"/>
          <p:cNvSpPr txBox="1"/>
          <p:nvPr/>
        </p:nvSpPr>
        <p:spPr>
          <a:xfrm>
            <a:off x="9189720" y="2057400"/>
            <a:ext cx="1554480" cy="502920"/>
          </a:xfrm>
          <a:prstGeom prst="rect">
            <a:avLst/>
          </a:prstGeom>
          <a:noFill/>
        </p:spPr>
        <p:txBody>
          <a:bodyPr wrap="square" lIns="73152" rIns="73152" tIns="73152" bIns="73152" anchor="ctr">
            <a:spAutoFit/>
          </a:bodyPr>
          <a:lstStyle/>
          <a:p>
            <a:pPr algn="ctr"/>
            <a:r>
              <a:rPr sz="1200" b="1">
                <a:solidFill>
                  <a:srgbClr val="FFFFFF"/>
                </a:solidFill>
                <a:latin typeface="Aptos"/>
              </a:rPr>
              <a:t>SMART
FARMING</a:t>
            </a:r>
          </a:p>
        </p:txBody>
      </p:sp>
      <p:sp>
        <p:nvSpPr>
          <p:cNvPr id="9" name="TextBox 8"/>
          <p:cNvSpPr txBox="1"/>
          <p:nvPr/>
        </p:nvSpPr>
        <p:spPr>
          <a:xfrm>
            <a:off x="822960" y="4160520"/>
            <a:ext cx="5303520" cy="411480"/>
          </a:xfrm>
          <a:prstGeom prst="rect">
            <a:avLst/>
          </a:prstGeom>
          <a:noFill/>
        </p:spPr>
        <p:txBody>
          <a:bodyPr wrap="square" lIns="73152" rIns="73152" tIns="73152" bIns="73152" anchor="ctr">
            <a:spAutoFit/>
          </a:bodyPr>
          <a:lstStyle/>
          <a:p>
            <a:pPr algn="l"/>
            <a:r>
              <a:rPr sz="1600" b="0">
                <a:solidFill>
                  <a:srgbClr val="FFFFFF"/>
                </a:solidFill>
                <a:latin typeface="Aptos"/>
              </a:rPr>
              <a:t>Presented by: __________________________</a:t>
            </a:r>
          </a:p>
        </p:txBody>
      </p:sp>
      <p:sp>
        <p:nvSpPr>
          <p:cNvPr id="10" name="TextBox 9"/>
          <p:cNvSpPr txBox="1"/>
          <p:nvPr/>
        </p:nvSpPr>
        <p:spPr>
          <a:xfrm>
            <a:off x="822960" y="4617720"/>
            <a:ext cx="5303520" cy="411480"/>
          </a:xfrm>
          <a:prstGeom prst="rect">
            <a:avLst/>
          </a:prstGeom>
          <a:noFill/>
        </p:spPr>
        <p:txBody>
          <a:bodyPr wrap="square" lIns="73152" rIns="73152" tIns="73152" bIns="73152" anchor="ctr">
            <a:spAutoFit/>
          </a:bodyPr>
          <a:lstStyle/>
          <a:p>
            <a:pPr algn="l"/>
            <a:r>
              <a:rPr sz="1600" b="0">
                <a:solidFill>
                  <a:srgbClr val="FFFFFF"/>
                </a:solidFill>
                <a:latin typeface="Aptos"/>
              </a:rPr>
              <a:t>Roll No.: ______________________________</a:t>
            </a:r>
          </a:p>
        </p:txBody>
      </p:sp>
      <p:sp>
        <p:nvSpPr>
          <p:cNvPr id="11" name="TextBox 10"/>
          <p:cNvSpPr txBox="1"/>
          <p:nvPr/>
        </p:nvSpPr>
        <p:spPr>
          <a:xfrm>
            <a:off x="822960" y="5074920"/>
            <a:ext cx="5303520" cy="411480"/>
          </a:xfrm>
          <a:prstGeom prst="rect">
            <a:avLst/>
          </a:prstGeom>
          <a:noFill/>
        </p:spPr>
        <p:txBody>
          <a:bodyPr wrap="square" lIns="73152" rIns="73152" tIns="73152" bIns="73152" anchor="ctr">
            <a:spAutoFit/>
          </a:bodyPr>
          <a:lstStyle/>
          <a:p>
            <a:pPr algn="l"/>
            <a:r>
              <a:rPr sz="1600" b="0">
                <a:solidFill>
                  <a:srgbClr val="FFFFFF"/>
                </a:solidFill>
                <a:latin typeface="Aptos"/>
              </a:rPr>
              <a:t>College: _______________________________</a:t>
            </a:r>
          </a:p>
        </p:txBody>
      </p:sp>
      <p:sp>
        <p:nvSpPr>
          <p:cNvPr id="12" name="TextBox 11"/>
          <p:cNvSpPr txBox="1"/>
          <p:nvPr/>
        </p:nvSpPr>
        <p:spPr>
          <a:xfrm>
            <a:off x="822960" y="5897880"/>
            <a:ext cx="6858000" cy="320040"/>
          </a:xfrm>
          <a:prstGeom prst="rect">
            <a:avLst/>
          </a:prstGeom>
          <a:noFill/>
        </p:spPr>
        <p:txBody>
          <a:bodyPr wrap="square" lIns="73152" rIns="73152" tIns="73152" bIns="73152" anchor="ctr">
            <a:spAutoFit/>
          </a:bodyPr>
          <a:lstStyle/>
          <a:p>
            <a:pPr algn="l"/>
            <a:r>
              <a:rPr sz="1400" b="1">
                <a:solidFill>
                  <a:srgbClr val="F4B43E"/>
                </a:solidFill>
                <a:latin typeface="Aptos"/>
              </a:rPr>
              <a:t>Final Project Viva  |  June 16,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9F7"/>
        </a:solidFill>
        <a:effectLst/>
      </p:bgPr>
    </p:bg>
    <p:spTree>
      <p:nvGrpSpPr>
        <p:cNvPr id="1" name=""/>
        <p:cNvGrpSpPr/>
        <p:nvPr/>
      </p:nvGrpSpPr>
      <p:grpSpPr/>
      <p:sp>
        <p:nvSpPr>
          <p:cNvPr id="2" name="Rectangle 1"/>
          <p:cNvSpPr/>
          <p:nvPr/>
        </p:nvSpPr>
        <p:spPr>
          <a:xfrm>
            <a:off x="0" y="0"/>
            <a:ext cx="12191695" cy="155448"/>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698480" cy="566928"/>
          </a:xfrm>
          <a:prstGeom prst="rect">
            <a:avLst/>
          </a:prstGeom>
          <a:noFill/>
        </p:spPr>
        <p:txBody>
          <a:bodyPr wrap="square" lIns="73152" rIns="73152" tIns="73152" bIns="73152" anchor="ctr">
            <a:spAutoFit/>
          </a:bodyPr>
          <a:lstStyle/>
          <a:p>
            <a:pPr algn="l"/>
            <a:r>
              <a:rPr sz="2800" b="1">
                <a:solidFill>
                  <a:srgbClr val="0D202D"/>
                </a:solidFill>
                <a:latin typeface="Aptos"/>
              </a:rPr>
              <a:t>Problem Statement</a:t>
            </a:r>
          </a:p>
        </p:txBody>
      </p:sp>
      <p:sp>
        <p:nvSpPr>
          <p:cNvPr id="4" name="TextBox 3"/>
          <p:cNvSpPr txBox="1"/>
          <p:nvPr/>
        </p:nvSpPr>
        <p:spPr>
          <a:xfrm>
            <a:off x="11064240" y="347472"/>
            <a:ext cx="640080" cy="365760"/>
          </a:xfrm>
          <a:prstGeom prst="rect">
            <a:avLst/>
          </a:prstGeom>
          <a:noFill/>
        </p:spPr>
        <p:txBody>
          <a:bodyPr wrap="square" lIns="73152" rIns="73152" tIns="73152" bIns="73152" anchor="ctr">
            <a:spAutoFit/>
          </a:bodyPr>
          <a:lstStyle/>
          <a:p>
            <a:pPr algn="r"/>
            <a:r>
              <a:rPr sz="1400" b="1">
                <a:solidFill>
                  <a:srgbClr val="23855B"/>
                </a:solidFill>
                <a:latin typeface="Aptos"/>
              </a:rPr>
              <a:t>02</a:t>
            </a:r>
          </a:p>
        </p:txBody>
      </p:sp>
      <p:sp>
        <p:nvSpPr>
          <p:cNvPr id="5" name="TextBox 4"/>
          <p:cNvSpPr txBox="1"/>
          <p:nvPr/>
        </p:nvSpPr>
        <p:spPr>
          <a:xfrm>
            <a:off x="502920" y="6492240"/>
            <a:ext cx="11155680" cy="201168"/>
          </a:xfrm>
          <a:prstGeom prst="rect">
            <a:avLst/>
          </a:prstGeom>
          <a:noFill/>
        </p:spPr>
        <p:txBody>
          <a:bodyPr wrap="square" lIns="73152" rIns="73152" tIns="73152" bIns="73152" anchor="ctr">
            <a:spAutoFit/>
          </a:bodyPr>
          <a:lstStyle/>
          <a:p>
            <a:pPr algn="l"/>
            <a:r>
              <a:rPr sz="900" b="0">
                <a:solidFill>
                  <a:srgbClr val="5B6C74"/>
                </a:solidFill>
                <a:latin typeface="Aptos"/>
              </a:rPr>
              <a:t>CropSmart  |  BCA Final-Year Project  |  June 16, 2026</a:t>
            </a:r>
          </a:p>
        </p:txBody>
      </p:sp>
      <p:sp>
        <p:nvSpPr>
          <p:cNvPr id="6" name="TextBox 5"/>
          <p:cNvSpPr txBox="1"/>
          <p:nvPr/>
        </p:nvSpPr>
        <p:spPr>
          <a:xfrm>
            <a:off x="640080" y="1051560"/>
            <a:ext cx="5120640" cy="502920"/>
          </a:xfrm>
          <a:prstGeom prst="rect">
            <a:avLst/>
          </a:prstGeom>
          <a:noFill/>
        </p:spPr>
        <p:txBody>
          <a:bodyPr wrap="square" lIns="73152" rIns="73152" tIns="73152" bIns="73152" anchor="ctr">
            <a:spAutoFit/>
          </a:bodyPr>
          <a:lstStyle/>
          <a:p>
            <a:pPr algn="l"/>
            <a:r>
              <a:rPr sz="2500" b="1">
                <a:solidFill>
                  <a:srgbClr val="0D202D"/>
                </a:solidFill>
                <a:latin typeface="Aptos"/>
              </a:rPr>
              <a:t>Crop prices are difficult to track and predict.</a:t>
            </a:r>
          </a:p>
        </p:txBody>
      </p:sp>
      <p:sp>
        <p:nvSpPr>
          <p:cNvPr id="7" name="TextBox 6"/>
          <p:cNvSpPr txBox="1"/>
          <p:nvPr/>
        </p:nvSpPr>
        <p:spPr>
          <a:xfrm>
            <a:off x="658368" y="1691640"/>
            <a:ext cx="5212080" cy="3566160"/>
          </a:xfrm>
          <a:prstGeom prst="rect">
            <a:avLst/>
          </a:prstGeom>
          <a:noFill/>
        </p:spPr>
        <p:txBody>
          <a:bodyPr wrap="square" lIns="73152" rIns="73152">
            <a:spAutoFit/>
          </a:bodyPr>
          <a:lstStyle/>
          <a:p>
            <a:pPr>
              <a:spcAft>
                <a:spcPts val="1000"/>
              </a:spcAft>
              <a:defRPr sz="1700">
                <a:solidFill>
                  <a:srgbClr val="1F2E37"/>
                </a:solidFill>
                <a:latin typeface="Aptos"/>
              </a:defRPr>
            </a:pPr>
            <a:r>
              <a:t>•  Prices change due to weather, supply, demand, inflation, transport cost, policy, and global risk.</a:t>
            </a:r>
          </a:p>
          <a:p>
            <a:pPr>
              <a:spcAft>
                <a:spcPts val="1000"/>
              </a:spcAft>
              <a:defRPr sz="1700">
                <a:solidFill>
                  <a:srgbClr val="1F2E37"/>
                </a:solidFill>
                <a:latin typeface="Aptos"/>
              </a:defRPr>
            </a:pPr>
            <a:r>
              <a:t>•  Farmers and buyers often check multiple sources manually.</a:t>
            </a:r>
          </a:p>
          <a:p>
            <a:pPr>
              <a:spcAft>
                <a:spcPts val="1000"/>
              </a:spcAft>
              <a:defRPr sz="1700">
                <a:solidFill>
                  <a:srgbClr val="1F2E37"/>
                </a:solidFill>
                <a:latin typeface="Aptos"/>
              </a:defRPr>
            </a:pPr>
            <a:r>
              <a:t>•  Local and global market information is not available in one simple dashboard.</a:t>
            </a:r>
          </a:p>
          <a:p>
            <a:pPr>
              <a:spcAft>
                <a:spcPts val="1000"/>
              </a:spcAft>
              <a:defRPr sz="1700">
                <a:solidFill>
                  <a:srgbClr val="1F2E37"/>
                </a:solidFill>
                <a:latin typeface="Aptos"/>
              </a:defRPr>
            </a:pPr>
            <a:r>
              <a:t>•  Future prices are uncertain, making planning and selling decisions difficult.</a:t>
            </a:r>
          </a:p>
        </p:txBody>
      </p:sp>
      <p:sp>
        <p:nvSpPr>
          <p:cNvPr id="8" name="Rounded Rectangle 7"/>
          <p:cNvSpPr/>
          <p:nvPr/>
        </p:nvSpPr>
        <p:spPr>
          <a:xfrm>
            <a:off x="6400800" y="1234440"/>
            <a:ext cx="4754880" cy="4297680"/>
          </a:xfrm>
          <a:prstGeom prst="roundRect">
            <a:avLst/>
          </a:prstGeom>
          <a:solidFill>
            <a:srgbClr val="E2F4EB"/>
          </a:solidFill>
          <a:ln>
            <a:solidFill>
              <a:srgbClr val="E2F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12280" y="1600200"/>
            <a:ext cx="3931920" cy="502920"/>
          </a:xfrm>
          <a:prstGeom prst="rect">
            <a:avLst/>
          </a:prstGeom>
          <a:noFill/>
        </p:spPr>
        <p:txBody>
          <a:bodyPr wrap="square" lIns="73152" rIns="73152" tIns="73152" bIns="73152" anchor="ctr">
            <a:spAutoFit/>
          </a:bodyPr>
          <a:lstStyle/>
          <a:p>
            <a:pPr algn="ctr"/>
            <a:r>
              <a:rPr sz="2500" b="1">
                <a:solidFill>
                  <a:srgbClr val="23855B"/>
                </a:solidFill>
                <a:latin typeface="Aptos"/>
              </a:rPr>
              <a:t>CropSmart Solution</a:t>
            </a:r>
          </a:p>
        </p:txBody>
      </p:sp>
      <p:sp>
        <p:nvSpPr>
          <p:cNvPr id="10" name="TextBox 9"/>
          <p:cNvSpPr txBox="1"/>
          <p:nvPr/>
        </p:nvSpPr>
        <p:spPr>
          <a:xfrm>
            <a:off x="6903720" y="2331720"/>
            <a:ext cx="3749039" cy="2468880"/>
          </a:xfrm>
          <a:prstGeom prst="rect">
            <a:avLst/>
          </a:prstGeom>
          <a:noFill/>
        </p:spPr>
        <p:txBody>
          <a:bodyPr wrap="square" lIns="73152" rIns="73152" tIns="73152" bIns="73152" anchor="ctr">
            <a:spAutoFit/>
          </a:bodyPr>
          <a:lstStyle/>
          <a:p>
            <a:pPr algn="ctr"/>
            <a:r>
              <a:rPr sz="1800" b="1">
                <a:solidFill>
                  <a:srgbClr val="0D202D"/>
                </a:solidFill>
                <a:latin typeface="Aptos"/>
              </a:rPr>
              <a:t>One browser-based system for:
CURRENT PRICE
HISTORICAL TREND
24-MONTH FORECAST
PRICE DRIVERS
CSV / JSON EXPORT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9F7"/>
        </a:solidFill>
        <a:effectLst/>
      </p:bgPr>
    </p:bg>
    <p:spTree>
      <p:nvGrpSpPr>
        <p:cNvPr id="1" name=""/>
        <p:cNvGrpSpPr/>
        <p:nvPr/>
      </p:nvGrpSpPr>
      <p:grpSpPr/>
      <p:sp>
        <p:nvSpPr>
          <p:cNvPr id="2" name="Rectangle 1"/>
          <p:cNvSpPr/>
          <p:nvPr/>
        </p:nvSpPr>
        <p:spPr>
          <a:xfrm>
            <a:off x="0" y="0"/>
            <a:ext cx="12191695" cy="155448"/>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698480" cy="566928"/>
          </a:xfrm>
          <a:prstGeom prst="rect">
            <a:avLst/>
          </a:prstGeom>
          <a:noFill/>
        </p:spPr>
        <p:txBody>
          <a:bodyPr wrap="square" lIns="73152" rIns="73152" tIns="73152" bIns="73152" anchor="ctr">
            <a:spAutoFit/>
          </a:bodyPr>
          <a:lstStyle/>
          <a:p>
            <a:pPr algn="l"/>
            <a:r>
              <a:rPr sz="2800" b="1">
                <a:solidFill>
                  <a:srgbClr val="0D202D"/>
                </a:solidFill>
                <a:latin typeface="Aptos"/>
              </a:rPr>
              <a:t>Project Objectives</a:t>
            </a:r>
          </a:p>
        </p:txBody>
      </p:sp>
      <p:sp>
        <p:nvSpPr>
          <p:cNvPr id="4" name="TextBox 3"/>
          <p:cNvSpPr txBox="1"/>
          <p:nvPr/>
        </p:nvSpPr>
        <p:spPr>
          <a:xfrm>
            <a:off x="11064240" y="347472"/>
            <a:ext cx="640080" cy="365760"/>
          </a:xfrm>
          <a:prstGeom prst="rect">
            <a:avLst/>
          </a:prstGeom>
          <a:noFill/>
        </p:spPr>
        <p:txBody>
          <a:bodyPr wrap="square" lIns="73152" rIns="73152" tIns="73152" bIns="73152" anchor="ctr">
            <a:spAutoFit/>
          </a:bodyPr>
          <a:lstStyle/>
          <a:p>
            <a:pPr algn="r"/>
            <a:r>
              <a:rPr sz="1400" b="1">
                <a:solidFill>
                  <a:srgbClr val="23855B"/>
                </a:solidFill>
                <a:latin typeface="Aptos"/>
              </a:rPr>
              <a:t>03</a:t>
            </a:r>
          </a:p>
        </p:txBody>
      </p:sp>
      <p:sp>
        <p:nvSpPr>
          <p:cNvPr id="5" name="TextBox 4"/>
          <p:cNvSpPr txBox="1"/>
          <p:nvPr/>
        </p:nvSpPr>
        <p:spPr>
          <a:xfrm>
            <a:off x="502920" y="6492240"/>
            <a:ext cx="11155680" cy="201168"/>
          </a:xfrm>
          <a:prstGeom prst="rect">
            <a:avLst/>
          </a:prstGeom>
          <a:noFill/>
        </p:spPr>
        <p:txBody>
          <a:bodyPr wrap="square" lIns="73152" rIns="73152" tIns="73152" bIns="73152" anchor="ctr">
            <a:spAutoFit/>
          </a:bodyPr>
          <a:lstStyle/>
          <a:p>
            <a:pPr algn="l"/>
            <a:r>
              <a:rPr sz="900" b="0">
                <a:solidFill>
                  <a:srgbClr val="5B6C74"/>
                </a:solidFill>
                <a:latin typeface="Aptos"/>
              </a:rPr>
              <a:t>CropSmart  |  BCA Final-Year Project  |  June 16, 2026</a:t>
            </a:r>
          </a:p>
        </p:txBody>
      </p:sp>
      <p:sp>
        <p:nvSpPr>
          <p:cNvPr id="6" name="Rounded Rectangle 5"/>
          <p:cNvSpPr/>
          <p:nvPr/>
        </p:nvSpPr>
        <p:spPr>
          <a:xfrm>
            <a:off x="594360" y="1188720"/>
            <a:ext cx="3246120" cy="178308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188720"/>
            <a:ext cx="73152" cy="1783080"/>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307592"/>
            <a:ext cx="2926079" cy="320040"/>
          </a:xfrm>
          <a:prstGeom prst="rect">
            <a:avLst/>
          </a:prstGeom>
          <a:noFill/>
        </p:spPr>
        <p:txBody>
          <a:bodyPr wrap="square" lIns="73152" rIns="73152" tIns="73152" bIns="73152" anchor="ctr">
            <a:spAutoFit/>
          </a:bodyPr>
          <a:lstStyle/>
          <a:p>
            <a:pPr algn="l"/>
            <a:r>
              <a:rPr sz="1600" b="1">
                <a:solidFill>
                  <a:srgbClr val="23855B"/>
                </a:solidFill>
                <a:latin typeface="Aptos"/>
              </a:rPr>
              <a:t>Current Price</a:t>
            </a:r>
          </a:p>
        </p:txBody>
      </p:sp>
      <p:sp>
        <p:nvSpPr>
          <p:cNvPr id="9" name="TextBox 8"/>
          <p:cNvSpPr txBox="1"/>
          <p:nvPr/>
        </p:nvSpPr>
        <p:spPr>
          <a:xfrm>
            <a:off x="777240" y="1673352"/>
            <a:ext cx="2926079" cy="1188719"/>
          </a:xfrm>
          <a:prstGeom prst="rect">
            <a:avLst/>
          </a:prstGeom>
          <a:noFill/>
        </p:spPr>
        <p:txBody>
          <a:bodyPr wrap="square" lIns="73152" rIns="73152" tIns="73152" bIns="73152" anchor="ctr">
            <a:spAutoFit/>
          </a:bodyPr>
          <a:lstStyle/>
          <a:p>
            <a:pPr algn="l"/>
            <a:r>
              <a:rPr sz="1200" b="0">
                <a:solidFill>
                  <a:srgbClr val="1F2E37"/>
                </a:solidFill>
                <a:latin typeface="Aptos"/>
              </a:rPr>
              <a:t>Show a direct public benchmark quote when available, otherwise a labelled estimate.</a:t>
            </a:r>
          </a:p>
        </p:txBody>
      </p:sp>
      <p:sp>
        <p:nvSpPr>
          <p:cNvPr id="10" name="Rounded Rectangle 9"/>
          <p:cNvSpPr/>
          <p:nvPr/>
        </p:nvSpPr>
        <p:spPr>
          <a:xfrm>
            <a:off x="4160520" y="1188720"/>
            <a:ext cx="3246120" cy="178308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60520" y="1188720"/>
            <a:ext cx="73152" cy="1783080"/>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43400" y="1307592"/>
            <a:ext cx="2926079" cy="320040"/>
          </a:xfrm>
          <a:prstGeom prst="rect">
            <a:avLst/>
          </a:prstGeom>
          <a:noFill/>
        </p:spPr>
        <p:txBody>
          <a:bodyPr wrap="square" lIns="73152" rIns="73152" tIns="73152" bIns="73152" anchor="ctr">
            <a:spAutoFit/>
          </a:bodyPr>
          <a:lstStyle/>
          <a:p>
            <a:pPr algn="l"/>
            <a:r>
              <a:rPr sz="1600" b="1">
                <a:solidFill>
                  <a:srgbClr val="23855B"/>
                </a:solidFill>
                <a:latin typeface="Aptos"/>
              </a:rPr>
              <a:t>Future Forecast</a:t>
            </a:r>
          </a:p>
        </p:txBody>
      </p:sp>
      <p:sp>
        <p:nvSpPr>
          <p:cNvPr id="13" name="TextBox 12"/>
          <p:cNvSpPr txBox="1"/>
          <p:nvPr/>
        </p:nvSpPr>
        <p:spPr>
          <a:xfrm>
            <a:off x="4343400" y="1673352"/>
            <a:ext cx="2926079" cy="1188719"/>
          </a:xfrm>
          <a:prstGeom prst="rect">
            <a:avLst/>
          </a:prstGeom>
          <a:noFill/>
        </p:spPr>
        <p:txBody>
          <a:bodyPr wrap="square" lIns="73152" rIns="73152" tIns="73152" bIns="73152" anchor="ctr">
            <a:spAutoFit/>
          </a:bodyPr>
          <a:lstStyle/>
          <a:p>
            <a:pPr algn="l"/>
            <a:r>
              <a:rPr sz="1200" b="0">
                <a:solidFill>
                  <a:srgbClr val="1F2E37"/>
                </a:solidFill>
                <a:latin typeface="Aptos"/>
              </a:rPr>
              <a:t>Predict selected periods and produce a complete 24-month monthly outlook.</a:t>
            </a:r>
          </a:p>
        </p:txBody>
      </p:sp>
      <p:sp>
        <p:nvSpPr>
          <p:cNvPr id="14" name="Rounded Rectangle 13"/>
          <p:cNvSpPr/>
          <p:nvPr/>
        </p:nvSpPr>
        <p:spPr>
          <a:xfrm>
            <a:off x="7726679" y="1188720"/>
            <a:ext cx="3246120" cy="178308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26679" y="1188720"/>
            <a:ext cx="73152" cy="1783080"/>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59" y="1307592"/>
            <a:ext cx="2926079" cy="320040"/>
          </a:xfrm>
          <a:prstGeom prst="rect">
            <a:avLst/>
          </a:prstGeom>
          <a:noFill/>
        </p:spPr>
        <p:txBody>
          <a:bodyPr wrap="square" lIns="73152" rIns="73152" tIns="73152" bIns="73152" anchor="ctr">
            <a:spAutoFit/>
          </a:bodyPr>
          <a:lstStyle/>
          <a:p>
            <a:pPr algn="l"/>
            <a:r>
              <a:rPr sz="1600" b="1">
                <a:solidFill>
                  <a:srgbClr val="23855B"/>
                </a:solidFill>
                <a:latin typeface="Aptos"/>
              </a:rPr>
              <a:t>Historical View</a:t>
            </a:r>
          </a:p>
        </p:txBody>
      </p:sp>
      <p:sp>
        <p:nvSpPr>
          <p:cNvPr id="17" name="TextBox 16"/>
          <p:cNvSpPr txBox="1"/>
          <p:nvPr/>
        </p:nvSpPr>
        <p:spPr>
          <a:xfrm>
            <a:off x="7909559" y="1673352"/>
            <a:ext cx="2926079" cy="1188719"/>
          </a:xfrm>
          <a:prstGeom prst="rect">
            <a:avLst/>
          </a:prstGeom>
          <a:noFill/>
        </p:spPr>
        <p:txBody>
          <a:bodyPr wrap="square" lIns="73152" rIns="73152" tIns="73152" bIns="73152" anchor="ctr">
            <a:spAutoFit/>
          </a:bodyPr>
          <a:lstStyle/>
          <a:p>
            <a:pPr algn="l"/>
            <a:r>
              <a:rPr sz="1200" b="0">
                <a:solidFill>
                  <a:srgbClr val="1F2E37"/>
                </a:solidFill>
                <a:latin typeface="Aptos"/>
              </a:rPr>
              <a:t>Display up to 10 years of observed benchmark history for supported crops.</a:t>
            </a:r>
          </a:p>
        </p:txBody>
      </p:sp>
      <p:sp>
        <p:nvSpPr>
          <p:cNvPr id="18" name="Rounded Rectangle 17"/>
          <p:cNvSpPr/>
          <p:nvPr/>
        </p:nvSpPr>
        <p:spPr>
          <a:xfrm>
            <a:off x="594360" y="3520440"/>
            <a:ext cx="3246120" cy="178308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 y="3520440"/>
            <a:ext cx="73152" cy="1783080"/>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639312"/>
            <a:ext cx="2926079" cy="320040"/>
          </a:xfrm>
          <a:prstGeom prst="rect">
            <a:avLst/>
          </a:prstGeom>
          <a:noFill/>
        </p:spPr>
        <p:txBody>
          <a:bodyPr wrap="square" lIns="73152" rIns="73152" tIns="73152" bIns="73152" anchor="ctr">
            <a:spAutoFit/>
          </a:bodyPr>
          <a:lstStyle/>
          <a:p>
            <a:pPr algn="l"/>
            <a:r>
              <a:rPr sz="1600" b="1">
                <a:solidFill>
                  <a:srgbClr val="23855B"/>
                </a:solidFill>
                <a:latin typeface="Aptos"/>
              </a:rPr>
              <a:t>Explainability</a:t>
            </a:r>
          </a:p>
        </p:txBody>
      </p:sp>
      <p:sp>
        <p:nvSpPr>
          <p:cNvPr id="21" name="TextBox 20"/>
          <p:cNvSpPr txBox="1"/>
          <p:nvPr/>
        </p:nvSpPr>
        <p:spPr>
          <a:xfrm>
            <a:off x="777240" y="4005072"/>
            <a:ext cx="2926079" cy="1188719"/>
          </a:xfrm>
          <a:prstGeom prst="rect">
            <a:avLst/>
          </a:prstGeom>
          <a:noFill/>
        </p:spPr>
        <p:txBody>
          <a:bodyPr wrap="square" lIns="73152" rIns="73152" tIns="73152" bIns="73152" anchor="ctr">
            <a:spAutoFit/>
          </a:bodyPr>
          <a:lstStyle/>
          <a:p>
            <a:pPr algn="l"/>
            <a:r>
              <a:rPr sz="1200" b="0">
                <a:solidFill>
                  <a:srgbClr val="1F2E37"/>
                </a:solidFill>
                <a:latin typeface="Aptos"/>
              </a:rPr>
              <a:t>Show the market factors and sources influencing the expected price.</a:t>
            </a:r>
          </a:p>
        </p:txBody>
      </p:sp>
      <p:sp>
        <p:nvSpPr>
          <p:cNvPr id="22" name="Rounded Rectangle 21"/>
          <p:cNvSpPr/>
          <p:nvPr/>
        </p:nvSpPr>
        <p:spPr>
          <a:xfrm>
            <a:off x="4160520" y="3520440"/>
            <a:ext cx="3246120" cy="178308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60520" y="3520440"/>
            <a:ext cx="73152" cy="1783080"/>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43400" y="3639312"/>
            <a:ext cx="2926079" cy="320040"/>
          </a:xfrm>
          <a:prstGeom prst="rect">
            <a:avLst/>
          </a:prstGeom>
          <a:noFill/>
        </p:spPr>
        <p:txBody>
          <a:bodyPr wrap="square" lIns="73152" rIns="73152" tIns="73152" bIns="73152" anchor="ctr">
            <a:spAutoFit/>
          </a:bodyPr>
          <a:lstStyle/>
          <a:p>
            <a:pPr algn="l"/>
            <a:r>
              <a:rPr sz="1600" b="1">
                <a:solidFill>
                  <a:srgbClr val="23855B"/>
                </a:solidFill>
                <a:latin typeface="Aptos"/>
              </a:rPr>
              <a:t>Global Options</a:t>
            </a:r>
          </a:p>
        </p:txBody>
      </p:sp>
      <p:sp>
        <p:nvSpPr>
          <p:cNvPr id="25" name="TextBox 24"/>
          <p:cNvSpPr txBox="1"/>
          <p:nvPr/>
        </p:nvSpPr>
        <p:spPr>
          <a:xfrm>
            <a:off x="4343400" y="4005072"/>
            <a:ext cx="2926079" cy="1188719"/>
          </a:xfrm>
          <a:prstGeom prst="rect">
            <a:avLst/>
          </a:prstGeom>
          <a:noFill/>
        </p:spPr>
        <p:txBody>
          <a:bodyPr wrap="square" lIns="73152" rIns="73152" tIns="73152" bIns="73152" anchor="ctr">
            <a:spAutoFit/>
          </a:bodyPr>
          <a:lstStyle/>
          <a:p>
            <a:pPr algn="l"/>
            <a:r>
              <a:rPr sz="1200" b="0">
                <a:solidFill>
                  <a:srgbClr val="1F2E37"/>
                </a:solidFill>
                <a:latin typeface="Aptos"/>
              </a:rPr>
              <a:t>Support 22 crops or variants and 14 major regions with currency conversion.</a:t>
            </a:r>
          </a:p>
        </p:txBody>
      </p:sp>
      <p:sp>
        <p:nvSpPr>
          <p:cNvPr id="26" name="Rounded Rectangle 25"/>
          <p:cNvSpPr/>
          <p:nvPr/>
        </p:nvSpPr>
        <p:spPr>
          <a:xfrm>
            <a:off x="7726679" y="3520440"/>
            <a:ext cx="3246120" cy="178308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26679" y="3520440"/>
            <a:ext cx="73152" cy="1783080"/>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9559" y="3639312"/>
            <a:ext cx="2926079" cy="320040"/>
          </a:xfrm>
          <a:prstGeom prst="rect">
            <a:avLst/>
          </a:prstGeom>
          <a:noFill/>
        </p:spPr>
        <p:txBody>
          <a:bodyPr wrap="square" lIns="73152" rIns="73152" tIns="73152" bIns="73152" anchor="ctr">
            <a:spAutoFit/>
          </a:bodyPr>
          <a:lstStyle/>
          <a:p>
            <a:pPr algn="l"/>
            <a:r>
              <a:rPr sz="1600" b="1">
                <a:solidFill>
                  <a:srgbClr val="23855B"/>
                </a:solidFill>
                <a:latin typeface="Aptos"/>
              </a:rPr>
              <a:t>Export</a:t>
            </a:r>
          </a:p>
        </p:txBody>
      </p:sp>
      <p:sp>
        <p:nvSpPr>
          <p:cNvPr id="29" name="TextBox 28"/>
          <p:cNvSpPr txBox="1"/>
          <p:nvPr/>
        </p:nvSpPr>
        <p:spPr>
          <a:xfrm>
            <a:off x="7909559" y="4005072"/>
            <a:ext cx="2926079" cy="1188719"/>
          </a:xfrm>
          <a:prstGeom prst="rect">
            <a:avLst/>
          </a:prstGeom>
          <a:noFill/>
        </p:spPr>
        <p:txBody>
          <a:bodyPr wrap="square" lIns="73152" rIns="73152" tIns="73152" bIns="73152" anchor="ctr">
            <a:spAutoFit/>
          </a:bodyPr>
          <a:lstStyle/>
          <a:p>
            <a:pPr algn="l"/>
            <a:r>
              <a:rPr sz="1200" b="0">
                <a:solidFill>
                  <a:srgbClr val="1F2E37"/>
                </a:solidFill>
                <a:latin typeface="Aptos"/>
              </a:rPr>
              <a:t>Download current, historical, forecast, source, and model details as CSV or JSON.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9F7"/>
        </a:solidFill>
        <a:effectLst/>
      </p:bgPr>
    </p:bg>
    <p:spTree>
      <p:nvGrpSpPr>
        <p:cNvPr id="1" name=""/>
        <p:cNvGrpSpPr/>
        <p:nvPr/>
      </p:nvGrpSpPr>
      <p:grpSpPr/>
      <p:sp>
        <p:nvSpPr>
          <p:cNvPr id="2" name="Rectangle 1"/>
          <p:cNvSpPr/>
          <p:nvPr/>
        </p:nvSpPr>
        <p:spPr>
          <a:xfrm>
            <a:off x="0" y="0"/>
            <a:ext cx="12191695" cy="155448"/>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698480" cy="566928"/>
          </a:xfrm>
          <a:prstGeom prst="rect">
            <a:avLst/>
          </a:prstGeom>
          <a:noFill/>
        </p:spPr>
        <p:txBody>
          <a:bodyPr wrap="square" lIns="73152" rIns="73152" tIns="73152" bIns="73152" anchor="ctr">
            <a:spAutoFit/>
          </a:bodyPr>
          <a:lstStyle/>
          <a:p>
            <a:pPr algn="l"/>
            <a:r>
              <a:rPr sz="2800" b="1">
                <a:solidFill>
                  <a:srgbClr val="0D202D"/>
                </a:solidFill>
                <a:latin typeface="Aptos"/>
              </a:rPr>
              <a:t>Technology Stack</a:t>
            </a:r>
          </a:p>
        </p:txBody>
      </p:sp>
      <p:sp>
        <p:nvSpPr>
          <p:cNvPr id="4" name="TextBox 3"/>
          <p:cNvSpPr txBox="1"/>
          <p:nvPr/>
        </p:nvSpPr>
        <p:spPr>
          <a:xfrm>
            <a:off x="11064240" y="347472"/>
            <a:ext cx="640080" cy="365760"/>
          </a:xfrm>
          <a:prstGeom prst="rect">
            <a:avLst/>
          </a:prstGeom>
          <a:noFill/>
        </p:spPr>
        <p:txBody>
          <a:bodyPr wrap="square" lIns="73152" rIns="73152" tIns="73152" bIns="73152" anchor="ctr">
            <a:spAutoFit/>
          </a:bodyPr>
          <a:lstStyle/>
          <a:p>
            <a:pPr algn="r"/>
            <a:r>
              <a:rPr sz="1400" b="1">
                <a:solidFill>
                  <a:srgbClr val="23855B"/>
                </a:solidFill>
                <a:latin typeface="Aptos"/>
              </a:rPr>
              <a:t>04</a:t>
            </a:r>
          </a:p>
        </p:txBody>
      </p:sp>
      <p:sp>
        <p:nvSpPr>
          <p:cNvPr id="5" name="TextBox 4"/>
          <p:cNvSpPr txBox="1"/>
          <p:nvPr/>
        </p:nvSpPr>
        <p:spPr>
          <a:xfrm>
            <a:off x="502920" y="6492240"/>
            <a:ext cx="11155680" cy="201168"/>
          </a:xfrm>
          <a:prstGeom prst="rect">
            <a:avLst/>
          </a:prstGeom>
          <a:noFill/>
        </p:spPr>
        <p:txBody>
          <a:bodyPr wrap="square" lIns="73152" rIns="73152" tIns="73152" bIns="73152" anchor="ctr">
            <a:spAutoFit/>
          </a:bodyPr>
          <a:lstStyle/>
          <a:p>
            <a:pPr algn="l"/>
            <a:r>
              <a:rPr sz="900" b="0">
                <a:solidFill>
                  <a:srgbClr val="5B6C74"/>
                </a:solidFill>
                <a:latin typeface="Aptos"/>
              </a:rPr>
              <a:t>CropSmart  |  BCA Final-Year Project  |  June 16, 2026</a:t>
            </a:r>
          </a:p>
        </p:txBody>
      </p:sp>
      <p:sp>
        <p:nvSpPr>
          <p:cNvPr id="6" name="Rounded Rectangle 5"/>
          <p:cNvSpPr/>
          <p:nvPr/>
        </p:nvSpPr>
        <p:spPr>
          <a:xfrm>
            <a:off x="594360" y="1325880"/>
            <a:ext cx="2514600" cy="429768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325880"/>
            <a:ext cx="2514600" cy="731520"/>
          </a:xfrm>
          <a:prstGeom prst="round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44752"/>
            <a:ext cx="2331720" cy="411480"/>
          </a:xfrm>
          <a:prstGeom prst="rect">
            <a:avLst/>
          </a:prstGeom>
          <a:noFill/>
        </p:spPr>
        <p:txBody>
          <a:bodyPr wrap="square" lIns="73152" rIns="73152" tIns="73152" bIns="73152" anchor="ctr">
            <a:spAutoFit/>
          </a:bodyPr>
          <a:lstStyle/>
          <a:p>
            <a:pPr algn="ctr"/>
            <a:r>
              <a:rPr sz="1800" b="1">
                <a:solidFill>
                  <a:srgbClr val="FFFFFF"/>
                </a:solidFill>
                <a:latin typeface="Aptos"/>
              </a:rPr>
              <a:t>Frontend</a:t>
            </a:r>
          </a:p>
        </p:txBody>
      </p:sp>
      <p:sp>
        <p:nvSpPr>
          <p:cNvPr id="9" name="TextBox 8"/>
          <p:cNvSpPr txBox="1"/>
          <p:nvPr/>
        </p:nvSpPr>
        <p:spPr>
          <a:xfrm>
            <a:off x="822960" y="2468880"/>
            <a:ext cx="2057400" cy="2286000"/>
          </a:xfrm>
          <a:prstGeom prst="rect">
            <a:avLst/>
          </a:prstGeom>
          <a:noFill/>
        </p:spPr>
        <p:txBody>
          <a:bodyPr wrap="square" lIns="73152" rIns="73152" tIns="73152" bIns="73152" anchor="ctr">
            <a:spAutoFit/>
          </a:bodyPr>
          <a:lstStyle/>
          <a:p>
            <a:pPr algn="ctr"/>
            <a:r>
              <a:rPr sz="1900" b="1">
                <a:solidFill>
                  <a:srgbClr val="0D202D"/>
                </a:solidFill>
                <a:latin typeface="Aptos"/>
              </a:rPr>
              <a:t>HTML5
CSS3
JavaScript</a:t>
            </a:r>
          </a:p>
        </p:txBody>
      </p:sp>
      <p:sp>
        <p:nvSpPr>
          <p:cNvPr id="10" name="Rounded Rectangle 9"/>
          <p:cNvSpPr/>
          <p:nvPr/>
        </p:nvSpPr>
        <p:spPr>
          <a:xfrm>
            <a:off x="3474720" y="1325880"/>
            <a:ext cx="2514600" cy="429768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74720" y="1325880"/>
            <a:ext cx="2514600" cy="731520"/>
          </a:xfrm>
          <a:prstGeom prst="roundRect">
            <a:avLst/>
          </a:prstGeom>
          <a:solidFill>
            <a:srgbClr val="27699C"/>
          </a:solidFill>
          <a:ln>
            <a:solidFill>
              <a:srgbClr val="2769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1444752"/>
            <a:ext cx="2331720" cy="411480"/>
          </a:xfrm>
          <a:prstGeom prst="rect">
            <a:avLst/>
          </a:prstGeom>
          <a:noFill/>
        </p:spPr>
        <p:txBody>
          <a:bodyPr wrap="square" lIns="73152" rIns="73152" tIns="73152" bIns="73152" anchor="ctr">
            <a:spAutoFit/>
          </a:bodyPr>
          <a:lstStyle/>
          <a:p>
            <a:pPr algn="ctr"/>
            <a:r>
              <a:rPr sz="1800" b="1">
                <a:solidFill>
                  <a:srgbClr val="FFFFFF"/>
                </a:solidFill>
                <a:latin typeface="Aptos"/>
              </a:rPr>
              <a:t>Backend</a:t>
            </a:r>
          </a:p>
        </p:txBody>
      </p:sp>
      <p:sp>
        <p:nvSpPr>
          <p:cNvPr id="13" name="TextBox 12"/>
          <p:cNvSpPr txBox="1"/>
          <p:nvPr/>
        </p:nvSpPr>
        <p:spPr>
          <a:xfrm>
            <a:off x="3703320" y="2468880"/>
            <a:ext cx="2057400" cy="2286000"/>
          </a:xfrm>
          <a:prstGeom prst="rect">
            <a:avLst/>
          </a:prstGeom>
          <a:noFill/>
        </p:spPr>
        <p:txBody>
          <a:bodyPr wrap="square" lIns="73152" rIns="73152" tIns="73152" bIns="73152" anchor="ctr">
            <a:spAutoFit/>
          </a:bodyPr>
          <a:lstStyle/>
          <a:p>
            <a:pPr algn="ctr"/>
            <a:r>
              <a:rPr sz="1900" b="1">
                <a:solidFill>
                  <a:srgbClr val="0D202D"/>
                </a:solidFill>
                <a:latin typeface="Aptos"/>
              </a:rPr>
              <a:t>Python
HTTP server
REST-style API</a:t>
            </a:r>
          </a:p>
        </p:txBody>
      </p:sp>
      <p:sp>
        <p:nvSpPr>
          <p:cNvPr id="14" name="Rounded Rectangle 13"/>
          <p:cNvSpPr/>
          <p:nvPr/>
        </p:nvSpPr>
        <p:spPr>
          <a:xfrm>
            <a:off x="6355080" y="1325880"/>
            <a:ext cx="2514600" cy="429768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55080" y="1325880"/>
            <a:ext cx="2514600" cy="731520"/>
          </a:xfrm>
          <a:prstGeom prst="roundRect">
            <a:avLst/>
          </a:prstGeom>
          <a:solidFill>
            <a:srgbClr val="8D5BA6"/>
          </a:solidFill>
          <a:ln>
            <a:solidFill>
              <a:srgbClr val="8D5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444752"/>
            <a:ext cx="2331720" cy="411480"/>
          </a:xfrm>
          <a:prstGeom prst="rect">
            <a:avLst/>
          </a:prstGeom>
          <a:noFill/>
        </p:spPr>
        <p:txBody>
          <a:bodyPr wrap="square" lIns="73152" rIns="73152" tIns="73152" bIns="73152" anchor="ctr">
            <a:spAutoFit/>
          </a:bodyPr>
          <a:lstStyle/>
          <a:p>
            <a:pPr algn="ctr"/>
            <a:r>
              <a:rPr sz="1800" b="1">
                <a:solidFill>
                  <a:srgbClr val="FFFFFF"/>
                </a:solidFill>
                <a:latin typeface="Aptos"/>
              </a:rPr>
              <a:t>Machine Learning</a:t>
            </a:r>
          </a:p>
        </p:txBody>
      </p:sp>
      <p:sp>
        <p:nvSpPr>
          <p:cNvPr id="17" name="TextBox 16"/>
          <p:cNvSpPr txBox="1"/>
          <p:nvPr/>
        </p:nvSpPr>
        <p:spPr>
          <a:xfrm>
            <a:off x="6583680" y="2468880"/>
            <a:ext cx="2057400" cy="2286000"/>
          </a:xfrm>
          <a:prstGeom prst="rect">
            <a:avLst/>
          </a:prstGeom>
          <a:noFill/>
        </p:spPr>
        <p:txBody>
          <a:bodyPr wrap="square" lIns="73152" rIns="73152" tIns="73152" bIns="73152" anchor="ctr">
            <a:spAutoFit/>
          </a:bodyPr>
          <a:lstStyle/>
          <a:p>
            <a:pPr algn="ctr"/>
            <a:r>
              <a:rPr sz="1900" b="1">
                <a:solidFill>
                  <a:srgbClr val="0D202D"/>
                </a:solidFill>
                <a:latin typeface="Aptos"/>
              </a:rPr>
              <a:t>Ridge regression
Time-series lags
Holdout validation</a:t>
            </a:r>
          </a:p>
        </p:txBody>
      </p:sp>
      <p:sp>
        <p:nvSpPr>
          <p:cNvPr id="18" name="Rounded Rectangle 17"/>
          <p:cNvSpPr/>
          <p:nvPr/>
        </p:nvSpPr>
        <p:spPr>
          <a:xfrm>
            <a:off x="9235440" y="1325880"/>
            <a:ext cx="2514600" cy="429768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235440" y="1325880"/>
            <a:ext cx="2514600" cy="731520"/>
          </a:xfrm>
          <a:prstGeom prst="roundRect">
            <a:avLst/>
          </a:prstGeom>
          <a:solidFill>
            <a:srgbClr val="CB7E24"/>
          </a:solidFill>
          <a:ln>
            <a:solidFill>
              <a:srgbClr val="CB7E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1444752"/>
            <a:ext cx="2331720" cy="411480"/>
          </a:xfrm>
          <a:prstGeom prst="rect">
            <a:avLst/>
          </a:prstGeom>
          <a:noFill/>
        </p:spPr>
        <p:txBody>
          <a:bodyPr wrap="square" lIns="73152" rIns="73152" tIns="73152" bIns="73152" anchor="ctr">
            <a:spAutoFit/>
          </a:bodyPr>
          <a:lstStyle/>
          <a:p>
            <a:pPr algn="ctr"/>
            <a:r>
              <a:rPr sz="1800" b="1">
                <a:solidFill>
                  <a:srgbClr val="FFFFFF"/>
                </a:solidFill>
                <a:latin typeface="Aptos"/>
              </a:rPr>
              <a:t>Data</a:t>
            </a:r>
          </a:p>
        </p:txBody>
      </p:sp>
      <p:sp>
        <p:nvSpPr>
          <p:cNvPr id="21" name="TextBox 20"/>
          <p:cNvSpPr txBox="1"/>
          <p:nvPr/>
        </p:nvSpPr>
        <p:spPr>
          <a:xfrm>
            <a:off x="9464040" y="2468880"/>
            <a:ext cx="2057400" cy="2286000"/>
          </a:xfrm>
          <a:prstGeom prst="rect">
            <a:avLst/>
          </a:prstGeom>
          <a:noFill/>
        </p:spPr>
        <p:txBody>
          <a:bodyPr wrap="square" lIns="73152" rIns="73152" tIns="73152" bIns="73152" anchor="ctr">
            <a:spAutoFit/>
          </a:bodyPr>
          <a:lstStyle/>
          <a:p>
            <a:pPr algn="ctr"/>
            <a:r>
              <a:rPr sz="1900" b="1">
                <a:solidFill>
                  <a:srgbClr val="0D202D"/>
                </a:solidFill>
                <a:latin typeface="Aptos"/>
              </a:rPr>
              <a:t>Public web APIs
JSON cache
CSV datasets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9F7"/>
        </a:solidFill>
        <a:effectLst/>
      </p:bgPr>
    </p:bg>
    <p:spTree>
      <p:nvGrpSpPr>
        <p:cNvPr id="1" name=""/>
        <p:cNvGrpSpPr/>
        <p:nvPr/>
      </p:nvGrpSpPr>
      <p:grpSpPr/>
      <p:sp>
        <p:nvSpPr>
          <p:cNvPr id="2" name="Rectangle 1"/>
          <p:cNvSpPr/>
          <p:nvPr/>
        </p:nvSpPr>
        <p:spPr>
          <a:xfrm>
            <a:off x="0" y="0"/>
            <a:ext cx="12191695" cy="155448"/>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698480" cy="566928"/>
          </a:xfrm>
          <a:prstGeom prst="rect">
            <a:avLst/>
          </a:prstGeom>
          <a:noFill/>
        </p:spPr>
        <p:txBody>
          <a:bodyPr wrap="square" lIns="73152" rIns="73152" tIns="73152" bIns="73152" anchor="ctr">
            <a:spAutoFit/>
          </a:bodyPr>
          <a:lstStyle/>
          <a:p>
            <a:pPr algn="l"/>
            <a:r>
              <a:rPr sz="2800" b="1">
                <a:solidFill>
                  <a:srgbClr val="0D202D"/>
                </a:solidFill>
                <a:latin typeface="Aptos"/>
              </a:rPr>
              <a:t>System Architecture</a:t>
            </a:r>
          </a:p>
        </p:txBody>
      </p:sp>
      <p:sp>
        <p:nvSpPr>
          <p:cNvPr id="4" name="TextBox 3"/>
          <p:cNvSpPr txBox="1"/>
          <p:nvPr/>
        </p:nvSpPr>
        <p:spPr>
          <a:xfrm>
            <a:off x="11064240" y="347472"/>
            <a:ext cx="640080" cy="365760"/>
          </a:xfrm>
          <a:prstGeom prst="rect">
            <a:avLst/>
          </a:prstGeom>
          <a:noFill/>
        </p:spPr>
        <p:txBody>
          <a:bodyPr wrap="square" lIns="73152" rIns="73152" tIns="73152" bIns="73152" anchor="ctr">
            <a:spAutoFit/>
          </a:bodyPr>
          <a:lstStyle/>
          <a:p>
            <a:pPr algn="r"/>
            <a:r>
              <a:rPr sz="1400" b="1">
                <a:solidFill>
                  <a:srgbClr val="23855B"/>
                </a:solidFill>
                <a:latin typeface="Aptos"/>
              </a:rPr>
              <a:t>05</a:t>
            </a:r>
          </a:p>
        </p:txBody>
      </p:sp>
      <p:sp>
        <p:nvSpPr>
          <p:cNvPr id="5" name="TextBox 4"/>
          <p:cNvSpPr txBox="1"/>
          <p:nvPr/>
        </p:nvSpPr>
        <p:spPr>
          <a:xfrm>
            <a:off x="502920" y="6492240"/>
            <a:ext cx="11155680" cy="201168"/>
          </a:xfrm>
          <a:prstGeom prst="rect">
            <a:avLst/>
          </a:prstGeom>
          <a:noFill/>
        </p:spPr>
        <p:txBody>
          <a:bodyPr wrap="square" lIns="73152" rIns="73152" tIns="73152" bIns="73152" anchor="ctr">
            <a:spAutoFit/>
          </a:bodyPr>
          <a:lstStyle/>
          <a:p>
            <a:pPr algn="l"/>
            <a:r>
              <a:rPr sz="900" b="0">
                <a:solidFill>
                  <a:srgbClr val="5B6C74"/>
                </a:solidFill>
                <a:latin typeface="Aptos"/>
              </a:rPr>
              <a:t>CropSmart  |  BCA Final-Year Project  |  June 16, 2026</a:t>
            </a:r>
          </a:p>
        </p:txBody>
      </p:sp>
      <p:sp>
        <p:nvSpPr>
          <p:cNvPr id="6" name="Rounded Rectangle 5"/>
          <p:cNvSpPr/>
          <p:nvPr/>
        </p:nvSpPr>
        <p:spPr>
          <a:xfrm>
            <a:off x="502920" y="1828800"/>
            <a:ext cx="1828800" cy="2377440"/>
          </a:xfrm>
          <a:prstGeom prst="roundRect">
            <a:avLst/>
          </a:prstGeom>
          <a:solidFill>
            <a:srgbClr val="FFFFFF"/>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2057400"/>
            <a:ext cx="1609344" cy="411480"/>
          </a:xfrm>
          <a:prstGeom prst="rect">
            <a:avLst/>
          </a:prstGeom>
          <a:noFill/>
        </p:spPr>
        <p:txBody>
          <a:bodyPr wrap="square" lIns="73152" rIns="73152" tIns="73152" bIns="73152" anchor="ctr">
            <a:spAutoFit/>
          </a:bodyPr>
          <a:lstStyle/>
          <a:p>
            <a:pPr algn="ctr"/>
            <a:r>
              <a:rPr sz="1500" b="1">
                <a:solidFill>
                  <a:srgbClr val="23855B"/>
                </a:solidFill>
                <a:latin typeface="Aptos"/>
              </a:rPr>
              <a:t>USER</a:t>
            </a:r>
          </a:p>
        </p:txBody>
      </p:sp>
      <p:sp>
        <p:nvSpPr>
          <p:cNvPr id="8" name="TextBox 7"/>
          <p:cNvSpPr txBox="1"/>
          <p:nvPr/>
        </p:nvSpPr>
        <p:spPr>
          <a:xfrm>
            <a:off x="667512" y="2697480"/>
            <a:ext cx="1499616" cy="1143000"/>
          </a:xfrm>
          <a:prstGeom prst="rect">
            <a:avLst/>
          </a:prstGeom>
          <a:noFill/>
        </p:spPr>
        <p:txBody>
          <a:bodyPr wrap="square" lIns="73152" rIns="73152" tIns="73152" bIns="73152" anchor="ctr">
            <a:spAutoFit/>
          </a:bodyPr>
          <a:lstStyle/>
          <a:p>
            <a:pPr algn="ctr"/>
            <a:r>
              <a:rPr sz="1400" b="0">
                <a:solidFill>
                  <a:srgbClr val="1F2E37"/>
                </a:solidFill>
                <a:latin typeface="Aptos"/>
              </a:rPr>
              <a:t>Selects crop,
region, currency,
and period</a:t>
            </a:r>
          </a:p>
        </p:txBody>
      </p:sp>
      <p:sp>
        <p:nvSpPr>
          <p:cNvPr id="9" name="TextBox 8"/>
          <p:cNvSpPr txBox="1"/>
          <p:nvPr/>
        </p:nvSpPr>
        <p:spPr>
          <a:xfrm>
            <a:off x="2350008" y="2606040"/>
            <a:ext cx="411480" cy="457200"/>
          </a:xfrm>
          <a:prstGeom prst="rect">
            <a:avLst/>
          </a:prstGeom>
          <a:noFill/>
        </p:spPr>
        <p:txBody>
          <a:bodyPr wrap="square" lIns="73152" rIns="73152" tIns="73152" bIns="73152" anchor="ctr">
            <a:spAutoFit/>
          </a:bodyPr>
          <a:lstStyle/>
          <a:p>
            <a:pPr algn="ctr"/>
            <a:r>
              <a:rPr sz="2700" b="1">
                <a:solidFill>
                  <a:srgbClr val="F4B43E"/>
                </a:solidFill>
                <a:latin typeface="Aptos"/>
              </a:rPr>
              <a:t>→</a:t>
            </a:r>
          </a:p>
        </p:txBody>
      </p:sp>
      <p:sp>
        <p:nvSpPr>
          <p:cNvPr id="10" name="Rounded Rectangle 9"/>
          <p:cNvSpPr/>
          <p:nvPr/>
        </p:nvSpPr>
        <p:spPr>
          <a:xfrm>
            <a:off x="2788920" y="1828800"/>
            <a:ext cx="1828800" cy="2377440"/>
          </a:xfrm>
          <a:prstGeom prst="roundRect">
            <a:avLst/>
          </a:prstGeom>
          <a:solidFill>
            <a:srgbClr val="FFFFFF"/>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98648" y="2057400"/>
            <a:ext cx="1609344" cy="411480"/>
          </a:xfrm>
          <a:prstGeom prst="rect">
            <a:avLst/>
          </a:prstGeom>
          <a:noFill/>
        </p:spPr>
        <p:txBody>
          <a:bodyPr wrap="square" lIns="73152" rIns="73152" tIns="73152" bIns="73152" anchor="ctr">
            <a:spAutoFit/>
          </a:bodyPr>
          <a:lstStyle/>
          <a:p>
            <a:pPr algn="ctr"/>
            <a:r>
              <a:rPr sz="1500" b="1">
                <a:solidFill>
                  <a:srgbClr val="23855B"/>
                </a:solidFill>
                <a:latin typeface="Aptos"/>
              </a:rPr>
              <a:t>FRONTEND</a:t>
            </a:r>
          </a:p>
        </p:txBody>
      </p:sp>
      <p:sp>
        <p:nvSpPr>
          <p:cNvPr id="12" name="TextBox 11"/>
          <p:cNvSpPr txBox="1"/>
          <p:nvPr/>
        </p:nvSpPr>
        <p:spPr>
          <a:xfrm>
            <a:off x="2953512" y="2697480"/>
            <a:ext cx="1499616" cy="1143000"/>
          </a:xfrm>
          <a:prstGeom prst="rect">
            <a:avLst/>
          </a:prstGeom>
          <a:noFill/>
        </p:spPr>
        <p:txBody>
          <a:bodyPr wrap="square" lIns="73152" rIns="73152" tIns="73152" bIns="73152" anchor="ctr">
            <a:spAutoFit/>
          </a:bodyPr>
          <a:lstStyle/>
          <a:p>
            <a:pPr algn="ctr"/>
            <a:r>
              <a:rPr sz="1400" b="0">
                <a:solidFill>
                  <a:srgbClr val="1F2E37"/>
                </a:solidFill>
                <a:latin typeface="Aptos"/>
              </a:rPr>
              <a:t>HTML, CSS,
and JavaScript
dashboard</a:t>
            </a:r>
          </a:p>
        </p:txBody>
      </p:sp>
      <p:sp>
        <p:nvSpPr>
          <p:cNvPr id="13" name="TextBox 12"/>
          <p:cNvSpPr txBox="1"/>
          <p:nvPr/>
        </p:nvSpPr>
        <p:spPr>
          <a:xfrm>
            <a:off x="4636008" y="2606040"/>
            <a:ext cx="411480" cy="457200"/>
          </a:xfrm>
          <a:prstGeom prst="rect">
            <a:avLst/>
          </a:prstGeom>
          <a:noFill/>
        </p:spPr>
        <p:txBody>
          <a:bodyPr wrap="square" lIns="73152" rIns="73152" tIns="73152" bIns="73152" anchor="ctr">
            <a:spAutoFit/>
          </a:bodyPr>
          <a:lstStyle/>
          <a:p>
            <a:pPr algn="ctr"/>
            <a:r>
              <a:rPr sz="2700" b="1">
                <a:solidFill>
                  <a:srgbClr val="F4B43E"/>
                </a:solidFill>
                <a:latin typeface="Aptos"/>
              </a:rPr>
              <a:t>→</a:t>
            </a:r>
          </a:p>
        </p:txBody>
      </p:sp>
      <p:sp>
        <p:nvSpPr>
          <p:cNvPr id="14" name="Rounded Rectangle 13"/>
          <p:cNvSpPr/>
          <p:nvPr/>
        </p:nvSpPr>
        <p:spPr>
          <a:xfrm>
            <a:off x="5074920" y="1828800"/>
            <a:ext cx="1828800" cy="2377440"/>
          </a:xfrm>
          <a:prstGeom prst="roundRect">
            <a:avLst/>
          </a:prstGeom>
          <a:solidFill>
            <a:srgbClr val="FFFFFF"/>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84648" y="2057400"/>
            <a:ext cx="1609344" cy="411480"/>
          </a:xfrm>
          <a:prstGeom prst="rect">
            <a:avLst/>
          </a:prstGeom>
          <a:noFill/>
        </p:spPr>
        <p:txBody>
          <a:bodyPr wrap="square" lIns="73152" rIns="73152" tIns="73152" bIns="73152" anchor="ctr">
            <a:spAutoFit/>
          </a:bodyPr>
          <a:lstStyle/>
          <a:p>
            <a:pPr algn="ctr"/>
            <a:r>
              <a:rPr sz="1500" b="1">
                <a:solidFill>
                  <a:srgbClr val="23855B"/>
                </a:solidFill>
                <a:latin typeface="Aptos"/>
              </a:rPr>
              <a:t>PYTHON API</a:t>
            </a:r>
          </a:p>
        </p:txBody>
      </p:sp>
      <p:sp>
        <p:nvSpPr>
          <p:cNvPr id="16" name="TextBox 15"/>
          <p:cNvSpPr txBox="1"/>
          <p:nvPr/>
        </p:nvSpPr>
        <p:spPr>
          <a:xfrm>
            <a:off x="5239512" y="2697480"/>
            <a:ext cx="1499616" cy="1143000"/>
          </a:xfrm>
          <a:prstGeom prst="rect">
            <a:avLst/>
          </a:prstGeom>
          <a:noFill/>
        </p:spPr>
        <p:txBody>
          <a:bodyPr wrap="square" lIns="73152" rIns="73152" tIns="73152" bIns="73152" anchor="ctr">
            <a:spAutoFit/>
          </a:bodyPr>
          <a:lstStyle/>
          <a:p>
            <a:pPr algn="ctr"/>
            <a:r>
              <a:rPr sz="1400" b="0">
                <a:solidFill>
                  <a:srgbClr val="1F2E37"/>
                </a:solidFill>
                <a:latin typeface="Aptos"/>
              </a:rPr>
              <a:t>Prediction,
options, health,
and export</a:t>
            </a:r>
          </a:p>
        </p:txBody>
      </p:sp>
      <p:sp>
        <p:nvSpPr>
          <p:cNvPr id="17" name="TextBox 16"/>
          <p:cNvSpPr txBox="1"/>
          <p:nvPr/>
        </p:nvSpPr>
        <p:spPr>
          <a:xfrm>
            <a:off x="6922008" y="2606040"/>
            <a:ext cx="411480" cy="457200"/>
          </a:xfrm>
          <a:prstGeom prst="rect">
            <a:avLst/>
          </a:prstGeom>
          <a:noFill/>
        </p:spPr>
        <p:txBody>
          <a:bodyPr wrap="square" lIns="73152" rIns="73152" tIns="73152" bIns="73152" anchor="ctr">
            <a:spAutoFit/>
          </a:bodyPr>
          <a:lstStyle/>
          <a:p>
            <a:pPr algn="ctr"/>
            <a:r>
              <a:rPr sz="2700" b="1">
                <a:solidFill>
                  <a:srgbClr val="F4B43E"/>
                </a:solidFill>
                <a:latin typeface="Aptos"/>
              </a:rPr>
              <a:t>→</a:t>
            </a:r>
          </a:p>
        </p:txBody>
      </p:sp>
      <p:sp>
        <p:nvSpPr>
          <p:cNvPr id="18" name="Rounded Rectangle 17"/>
          <p:cNvSpPr/>
          <p:nvPr/>
        </p:nvSpPr>
        <p:spPr>
          <a:xfrm>
            <a:off x="7360920" y="1828800"/>
            <a:ext cx="1828800" cy="2377440"/>
          </a:xfrm>
          <a:prstGeom prst="roundRect">
            <a:avLst/>
          </a:prstGeom>
          <a:solidFill>
            <a:srgbClr val="FFFFFF"/>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70648" y="2057400"/>
            <a:ext cx="1609344" cy="411480"/>
          </a:xfrm>
          <a:prstGeom prst="rect">
            <a:avLst/>
          </a:prstGeom>
          <a:noFill/>
        </p:spPr>
        <p:txBody>
          <a:bodyPr wrap="square" lIns="73152" rIns="73152" tIns="73152" bIns="73152" anchor="ctr">
            <a:spAutoFit/>
          </a:bodyPr>
          <a:lstStyle/>
          <a:p>
            <a:pPr algn="ctr"/>
            <a:r>
              <a:rPr sz="1500" b="1">
                <a:solidFill>
                  <a:srgbClr val="23855B"/>
                </a:solidFill>
                <a:latin typeface="Aptos"/>
              </a:rPr>
              <a:t>DATA + MODEL</a:t>
            </a:r>
          </a:p>
        </p:txBody>
      </p:sp>
      <p:sp>
        <p:nvSpPr>
          <p:cNvPr id="20" name="TextBox 19"/>
          <p:cNvSpPr txBox="1"/>
          <p:nvPr/>
        </p:nvSpPr>
        <p:spPr>
          <a:xfrm>
            <a:off x="7525512" y="2697480"/>
            <a:ext cx="1499616" cy="1143000"/>
          </a:xfrm>
          <a:prstGeom prst="rect">
            <a:avLst/>
          </a:prstGeom>
          <a:noFill/>
        </p:spPr>
        <p:txBody>
          <a:bodyPr wrap="square" lIns="73152" rIns="73152" tIns="73152" bIns="73152" anchor="ctr">
            <a:spAutoFit/>
          </a:bodyPr>
          <a:lstStyle/>
          <a:p>
            <a:pPr algn="ctr"/>
            <a:r>
              <a:rPr sz="1400" b="0">
                <a:solidFill>
                  <a:srgbClr val="1F2E37"/>
                </a:solidFill>
                <a:latin typeface="Aptos"/>
              </a:rPr>
              <a:t>Public signals,
history, cache,
and ridge model</a:t>
            </a:r>
          </a:p>
        </p:txBody>
      </p:sp>
      <p:sp>
        <p:nvSpPr>
          <p:cNvPr id="21" name="TextBox 20"/>
          <p:cNvSpPr txBox="1"/>
          <p:nvPr/>
        </p:nvSpPr>
        <p:spPr>
          <a:xfrm>
            <a:off x="9208008" y="2606040"/>
            <a:ext cx="411480" cy="457200"/>
          </a:xfrm>
          <a:prstGeom prst="rect">
            <a:avLst/>
          </a:prstGeom>
          <a:noFill/>
        </p:spPr>
        <p:txBody>
          <a:bodyPr wrap="square" lIns="73152" rIns="73152" tIns="73152" bIns="73152" anchor="ctr">
            <a:spAutoFit/>
          </a:bodyPr>
          <a:lstStyle/>
          <a:p>
            <a:pPr algn="ctr"/>
            <a:r>
              <a:rPr sz="2700" b="1">
                <a:solidFill>
                  <a:srgbClr val="F4B43E"/>
                </a:solidFill>
                <a:latin typeface="Aptos"/>
              </a:rPr>
              <a:t>→</a:t>
            </a:r>
          </a:p>
        </p:txBody>
      </p:sp>
      <p:sp>
        <p:nvSpPr>
          <p:cNvPr id="22" name="Rounded Rectangle 21"/>
          <p:cNvSpPr/>
          <p:nvPr/>
        </p:nvSpPr>
        <p:spPr>
          <a:xfrm>
            <a:off x="9646920" y="1828800"/>
            <a:ext cx="1828800" cy="2377440"/>
          </a:xfrm>
          <a:prstGeom prst="roundRect">
            <a:avLst/>
          </a:prstGeom>
          <a:solidFill>
            <a:srgbClr val="FFFFFF"/>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56648" y="2057400"/>
            <a:ext cx="1609344" cy="411480"/>
          </a:xfrm>
          <a:prstGeom prst="rect">
            <a:avLst/>
          </a:prstGeom>
          <a:noFill/>
        </p:spPr>
        <p:txBody>
          <a:bodyPr wrap="square" lIns="73152" rIns="73152" tIns="73152" bIns="73152" anchor="ctr">
            <a:spAutoFit/>
          </a:bodyPr>
          <a:lstStyle/>
          <a:p>
            <a:pPr algn="ctr"/>
            <a:r>
              <a:rPr sz="1500" b="1">
                <a:solidFill>
                  <a:srgbClr val="23855B"/>
                </a:solidFill>
                <a:latin typeface="Aptos"/>
              </a:rPr>
              <a:t>OUTPUT</a:t>
            </a:r>
          </a:p>
        </p:txBody>
      </p:sp>
      <p:sp>
        <p:nvSpPr>
          <p:cNvPr id="24" name="TextBox 23"/>
          <p:cNvSpPr txBox="1"/>
          <p:nvPr/>
        </p:nvSpPr>
        <p:spPr>
          <a:xfrm>
            <a:off x="9811512" y="2697480"/>
            <a:ext cx="1499616" cy="1143000"/>
          </a:xfrm>
          <a:prstGeom prst="rect">
            <a:avLst/>
          </a:prstGeom>
          <a:noFill/>
        </p:spPr>
        <p:txBody>
          <a:bodyPr wrap="square" lIns="73152" rIns="73152" tIns="73152" bIns="73152" anchor="ctr">
            <a:spAutoFit/>
          </a:bodyPr>
          <a:lstStyle/>
          <a:p>
            <a:pPr algn="ctr"/>
            <a:r>
              <a:rPr sz="1400" b="0">
                <a:solidFill>
                  <a:srgbClr val="1F2E37"/>
                </a:solidFill>
                <a:latin typeface="Aptos"/>
              </a:rPr>
              <a:t>Price, charts,
drivers, MAPE,
and export</a:t>
            </a:r>
          </a:p>
        </p:txBody>
      </p:sp>
      <p:sp>
        <p:nvSpPr>
          <p:cNvPr id="25" name="TextBox 24"/>
          <p:cNvSpPr txBox="1"/>
          <p:nvPr/>
        </p:nvSpPr>
        <p:spPr>
          <a:xfrm>
            <a:off x="914400" y="4800600"/>
            <a:ext cx="10332720" cy="594360"/>
          </a:xfrm>
          <a:prstGeom prst="rect">
            <a:avLst/>
          </a:prstGeom>
          <a:noFill/>
        </p:spPr>
        <p:txBody>
          <a:bodyPr wrap="square" lIns="73152" rIns="73152" tIns="73152" bIns="73152" anchor="ctr">
            <a:spAutoFit/>
          </a:bodyPr>
          <a:lstStyle/>
          <a:p>
            <a:pPr algn="ctr"/>
            <a:r>
              <a:rPr sz="1800" b="1">
                <a:solidFill>
                  <a:srgbClr val="0D202D"/>
                </a:solidFill>
                <a:latin typeface="Aptos"/>
              </a:rPr>
              <a:t>Request flow: Browser → API v2 → live data and history → forecast model → dashboard response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9F7"/>
        </a:solidFill>
        <a:effectLst/>
      </p:bgPr>
    </p:bg>
    <p:spTree>
      <p:nvGrpSpPr>
        <p:cNvPr id="1" name=""/>
        <p:cNvGrpSpPr/>
        <p:nvPr/>
      </p:nvGrpSpPr>
      <p:grpSpPr/>
      <p:sp>
        <p:nvSpPr>
          <p:cNvPr id="2" name="Rectangle 1"/>
          <p:cNvSpPr/>
          <p:nvPr/>
        </p:nvSpPr>
        <p:spPr>
          <a:xfrm>
            <a:off x="0" y="0"/>
            <a:ext cx="12191695" cy="155448"/>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698480" cy="566928"/>
          </a:xfrm>
          <a:prstGeom prst="rect">
            <a:avLst/>
          </a:prstGeom>
          <a:noFill/>
        </p:spPr>
        <p:txBody>
          <a:bodyPr wrap="square" lIns="73152" rIns="73152" tIns="73152" bIns="73152" anchor="ctr">
            <a:spAutoFit/>
          </a:bodyPr>
          <a:lstStyle/>
          <a:p>
            <a:pPr algn="l"/>
            <a:r>
              <a:rPr sz="2800" b="1">
                <a:solidFill>
                  <a:srgbClr val="0D202D"/>
                </a:solidFill>
                <a:latin typeface="Aptos"/>
              </a:rPr>
              <a:t>Data Sources and Processing</a:t>
            </a:r>
          </a:p>
        </p:txBody>
      </p:sp>
      <p:sp>
        <p:nvSpPr>
          <p:cNvPr id="4" name="TextBox 3"/>
          <p:cNvSpPr txBox="1"/>
          <p:nvPr/>
        </p:nvSpPr>
        <p:spPr>
          <a:xfrm>
            <a:off x="11064240" y="347472"/>
            <a:ext cx="640080" cy="365760"/>
          </a:xfrm>
          <a:prstGeom prst="rect">
            <a:avLst/>
          </a:prstGeom>
          <a:noFill/>
        </p:spPr>
        <p:txBody>
          <a:bodyPr wrap="square" lIns="73152" rIns="73152" tIns="73152" bIns="73152" anchor="ctr">
            <a:spAutoFit/>
          </a:bodyPr>
          <a:lstStyle/>
          <a:p>
            <a:pPr algn="r"/>
            <a:r>
              <a:rPr sz="1400" b="1">
                <a:solidFill>
                  <a:srgbClr val="23855B"/>
                </a:solidFill>
                <a:latin typeface="Aptos"/>
              </a:rPr>
              <a:t>06</a:t>
            </a:r>
          </a:p>
        </p:txBody>
      </p:sp>
      <p:sp>
        <p:nvSpPr>
          <p:cNvPr id="5" name="TextBox 4"/>
          <p:cNvSpPr txBox="1"/>
          <p:nvPr/>
        </p:nvSpPr>
        <p:spPr>
          <a:xfrm>
            <a:off x="502920" y="6492240"/>
            <a:ext cx="11155680" cy="201168"/>
          </a:xfrm>
          <a:prstGeom prst="rect">
            <a:avLst/>
          </a:prstGeom>
          <a:noFill/>
        </p:spPr>
        <p:txBody>
          <a:bodyPr wrap="square" lIns="73152" rIns="73152" tIns="73152" bIns="73152" anchor="ctr">
            <a:spAutoFit/>
          </a:bodyPr>
          <a:lstStyle/>
          <a:p>
            <a:pPr algn="l"/>
            <a:r>
              <a:rPr sz="900" b="0">
                <a:solidFill>
                  <a:srgbClr val="5B6C74"/>
                </a:solidFill>
                <a:latin typeface="Aptos"/>
              </a:rPr>
              <a:t>CropSmart  |  BCA Final-Year Project  |  June 16, 2026</a:t>
            </a:r>
          </a:p>
        </p:txBody>
      </p:sp>
      <p:sp>
        <p:nvSpPr>
          <p:cNvPr id="6" name="Rounded Rectangle 5"/>
          <p:cNvSpPr/>
          <p:nvPr/>
        </p:nvSpPr>
        <p:spPr>
          <a:xfrm>
            <a:off x="594360" y="1143000"/>
            <a:ext cx="5212080" cy="141732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143000"/>
            <a:ext cx="73152" cy="1417320"/>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261872"/>
            <a:ext cx="4892040" cy="320040"/>
          </a:xfrm>
          <a:prstGeom prst="rect">
            <a:avLst/>
          </a:prstGeom>
          <a:noFill/>
        </p:spPr>
        <p:txBody>
          <a:bodyPr wrap="square" lIns="73152" rIns="73152" tIns="73152" bIns="73152" anchor="ctr">
            <a:spAutoFit/>
          </a:bodyPr>
          <a:lstStyle/>
          <a:p>
            <a:pPr algn="l"/>
            <a:r>
              <a:rPr sz="1600" b="1">
                <a:solidFill>
                  <a:srgbClr val="23855B"/>
                </a:solidFill>
                <a:latin typeface="Aptos"/>
              </a:rPr>
              <a:t>Market Data</a:t>
            </a:r>
          </a:p>
        </p:txBody>
      </p:sp>
      <p:sp>
        <p:nvSpPr>
          <p:cNvPr id="9" name="TextBox 8"/>
          <p:cNvSpPr txBox="1"/>
          <p:nvPr/>
        </p:nvSpPr>
        <p:spPr>
          <a:xfrm>
            <a:off x="777240" y="1627632"/>
            <a:ext cx="4892040" cy="822960"/>
          </a:xfrm>
          <a:prstGeom prst="rect">
            <a:avLst/>
          </a:prstGeom>
          <a:noFill/>
        </p:spPr>
        <p:txBody>
          <a:bodyPr wrap="square" lIns="73152" rIns="73152" tIns="73152" bIns="73152" anchor="ctr">
            <a:spAutoFit/>
          </a:bodyPr>
          <a:lstStyle/>
          <a:p>
            <a:pPr algn="l"/>
            <a:r>
              <a:rPr sz="1200" b="0">
                <a:solidFill>
                  <a:srgbClr val="1F2E37"/>
                </a:solidFill>
                <a:latin typeface="Aptos"/>
              </a:rPr>
              <a:t>Yahoo Finance benchmark quotes and monthly futures closes.</a:t>
            </a:r>
          </a:p>
        </p:txBody>
      </p:sp>
      <p:sp>
        <p:nvSpPr>
          <p:cNvPr id="10" name="Rounded Rectangle 9"/>
          <p:cNvSpPr/>
          <p:nvPr/>
        </p:nvSpPr>
        <p:spPr>
          <a:xfrm>
            <a:off x="6217920" y="1143000"/>
            <a:ext cx="5212080" cy="141732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143000"/>
            <a:ext cx="73152" cy="1417320"/>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261872"/>
            <a:ext cx="4892040" cy="320040"/>
          </a:xfrm>
          <a:prstGeom prst="rect">
            <a:avLst/>
          </a:prstGeom>
          <a:noFill/>
        </p:spPr>
        <p:txBody>
          <a:bodyPr wrap="square" lIns="73152" rIns="73152" tIns="73152" bIns="73152" anchor="ctr">
            <a:spAutoFit/>
          </a:bodyPr>
          <a:lstStyle/>
          <a:p>
            <a:pPr algn="l"/>
            <a:r>
              <a:rPr sz="1600" b="1">
                <a:solidFill>
                  <a:srgbClr val="23855B"/>
                </a:solidFill>
                <a:latin typeface="Aptos"/>
              </a:rPr>
              <a:t>Economic Data</a:t>
            </a:r>
          </a:p>
        </p:txBody>
      </p:sp>
      <p:sp>
        <p:nvSpPr>
          <p:cNvPr id="13" name="TextBox 12"/>
          <p:cNvSpPr txBox="1"/>
          <p:nvPr/>
        </p:nvSpPr>
        <p:spPr>
          <a:xfrm>
            <a:off x="6400800" y="1627632"/>
            <a:ext cx="4892040" cy="822960"/>
          </a:xfrm>
          <a:prstGeom prst="rect">
            <a:avLst/>
          </a:prstGeom>
          <a:noFill/>
        </p:spPr>
        <p:txBody>
          <a:bodyPr wrap="square" lIns="73152" rIns="73152" tIns="73152" bIns="73152" anchor="ctr">
            <a:spAutoFit/>
          </a:bodyPr>
          <a:lstStyle/>
          <a:p>
            <a:pPr algn="l"/>
            <a:r>
              <a:rPr sz="1200" b="0">
                <a:solidFill>
                  <a:srgbClr val="1F2E37"/>
                </a:solidFill>
                <a:latin typeface="Aptos"/>
              </a:rPr>
              <a:t>World Bank inflation and GDP indicators.</a:t>
            </a:r>
          </a:p>
        </p:txBody>
      </p:sp>
      <p:sp>
        <p:nvSpPr>
          <p:cNvPr id="14" name="Rounded Rectangle 13"/>
          <p:cNvSpPr/>
          <p:nvPr/>
        </p:nvSpPr>
        <p:spPr>
          <a:xfrm>
            <a:off x="594360" y="3017520"/>
            <a:ext cx="5212080" cy="141732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3017520"/>
            <a:ext cx="73152" cy="1417320"/>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136391"/>
            <a:ext cx="4892040" cy="320040"/>
          </a:xfrm>
          <a:prstGeom prst="rect">
            <a:avLst/>
          </a:prstGeom>
          <a:noFill/>
        </p:spPr>
        <p:txBody>
          <a:bodyPr wrap="square" lIns="73152" rIns="73152" tIns="73152" bIns="73152" anchor="ctr">
            <a:spAutoFit/>
          </a:bodyPr>
          <a:lstStyle/>
          <a:p>
            <a:pPr algn="l"/>
            <a:r>
              <a:rPr sz="1600" b="1">
                <a:solidFill>
                  <a:srgbClr val="23855B"/>
                </a:solidFill>
                <a:latin typeface="Aptos"/>
              </a:rPr>
              <a:t>Weather Data</a:t>
            </a:r>
          </a:p>
        </p:txBody>
      </p:sp>
      <p:sp>
        <p:nvSpPr>
          <p:cNvPr id="17" name="TextBox 16"/>
          <p:cNvSpPr txBox="1"/>
          <p:nvPr/>
        </p:nvSpPr>
        <p:spPr>
          <a:xfrm>
            <a:off x="777240" y="3502152"/>
            <a:ext cx="4892040" cy="822960"/>
          </a:xfrm>
          <a:prstGeom prst="rect">
            <a:avLst/>
          </a:prstGeom>
          <a:noFill/>
        </p:spPr>
        <p:txBody>
          <a:bodyPr wrap="square" lIns="73152" rIns="73152" tIns="73152" bIns="73152" anchor="ctr">
            <a:spAutoFit/>
          </a:bodyPr>
          <a:lstStyle/>
          <a:p>
            <a:pPr algn="l"/>
            <a:r>
              <a:rPr sz="1200" b="0">
                <a:solidFill>
                  <a:srgbClr val="1F2E37"/>
                </a:solidFill>
                <a:latin typeface="Aptos"/>
              </a:rPr>
              <a:t>Open-Meteo temperature and rainfall signals.</a:t>
            </a:r>
          </a:p>
        </p:txBody>
      </p:sp>
      <p:sp>
        <p:nvSpPr>
          <p:cNvPr id="18" name="Rounded Rectangle 17"/>
          <p:cNvSpPr/>
          <p:nvPr/>
        </p:nvSpPr>
        <p:spPr>
          <a:xfrm>
            <a:off x="6217920" y="3017520"/>
            <a:ext cx="5212080" cy="141732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017520"/>
            <a:ext cx="73152" cy="1417320"/>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3136391"/>
            <a:ext cx="4892040" cy="320040"/>
          </a:xfrm>
          <a:prstGeom prst="rect">
            <a:avLst/>
          </a:prstGeom>
          <a:noFill/>
        </p:spPr>
        <p:txBody>
          <a:bodyPr wrap="square" lIns="73152" rIns="73152" tIns="73152" bIns="73152" anchor="ctr">
            <a:spAutoFit/>
          </a:bodyPr>
          <a:lstStyle/>
          <a:p>
            <a:pPr algn="l"/>
            <a:r>
              <a:rPr sz="1600" b="1">
                <a:solidFill>
                  <a:srgbClr val="23855B"/>
                </a:solidFill>
                <a:latin typeface="Aptos"/>
              </a:rPr>
              <a:t>Risk Data</a:t>
            </a:r>
          </a:p>
        </p:txBody>
      </p:sp>
      <p:sp>
        <p:nvSpPr>
          <p:cNvPr id="21" name="TextBox 20"/>
          <p:cNvSpPr txBox="1"/>
          <p:nvPr/>
        </p:nvSpPr>
        <p:spPr>
          <a:xfrm>
            <a:off x="6400800" y="3502152"/>
            <a:ext cx="4892040" cy="822960"/>
          </a:xfrm>
          <a:prstGeom prst="rect">
            <a:avLst/>
          </a:prstGeom>
          <a:noFill/>
        </p:spPr>
        <p:txBody>
          <a:bodyPr wrap="square" lIns="73152" rIns="73152" tIns="73152" bIns="73152" anchor="ctr">
            <a:spAutoFit/>
          </a:bodyPr>
          <a:lstStyle/>
          <a:p>
            <a:pPr algn="l"/>
            <a:r>
              <a:rPr sz="1200" b="0">
                <a:solidFill>
                  <a:srgbClr val="1F2E37"/>
                </a:solidFill>
                <a:latin typeface="Aptos"/>
              </a:rPr>
              <a:t>GDELT conflict and unrest news signals.</a:t>
            </a:r>
          </a:p>
        </p:txBody>
      </p:sp>
      <p:sp>
        <p:nvSpPr>
          <p:cNvPr id="22" name="Rounded Rectangle 21"/>
          <p:cNvSpPr/>
          <p:nvPr/>
        </p:nvSpPr>
        <p:spPr>
          <a:xfrm>
            <a:off x="594360" y="4983480"/>
            <a:ext cx="10835640" cy="731520"/>
          </a:xfrm>
          <a:prstGeom prst="roundRect">
            <a:avLst/>
          </a:prstGeom>
          <a:solidFill>
            <a:srgbClr val="0D202D"/>
          </a:solidFill>
          <a:ln>
            <a:solidFill>
              <a:srgbClr val="0D20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102352"/>
            <a:ext cx="10378440" cy="438912"/>
          </a:xfrm>
          <a:prstGeom prst="rect">
            <a:avLst/>
          </a:prstGeom>
          <a:noFill/>
        </p:spPr>
        <p:txBody>
          <a:bodyPr wrap="square" lIns="73152" rIns="73152" tIns="73152" bIns="73152" anchor="ctr">
            <a:spAutoFit/>
          </a:bodyPr>
          <a:lstStyle/>
          <a:p>
            <a:pPr algn="ctr"/>
            <a:r>
              <a:rPr sz="1500" b="1">
                <a:solidFill>
                  <a:srgbClr val="FFFFFF"/>
                </a:solidFill>
                <a:latin typeface="Aptos"/>
              </a:rPr>
              <a:t>CACHE: recent API responses are stored in JSON to improve speed and handle temporary failures.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9F7"/>
        </a:solidFill>
        <a:effectLst/>
      </p:bgPr>
    </p:bg>
    <p:spTree>
      <p:nvGrpSpPr>
        <p:cNvPr id="1" name=""/>
        <p:cNvGrpSpPr/>
        <p:nvPr/>
      </p:nvGrpSpPr>
      <p:grpSpPr/>
      <p:sp>
        <p:nvSpPr>
          <p:cNvPr id="2" name="Rectangle 1"/>
          <p:cNvSpPr/>
          <p:nvPr/>
        </p:nvSpPr>
        <p:spPr>
          <a:xfrm>
            <a:off x="0" y="0"/>
            <a:ext cx="12191695" cy="155448"/>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698480" cy="566928"/>
          </a:xfrm>
          <a:prstGeom prst="rect">
            <a:avLst/>
          </a:prstGeom>
          <a:noFill/>
        </p:spPr>
        <p:txBody>
          <a:bodyPr wrap="square" lIns="73152" rIns="73152" tIns="73152" bIns="73152" anchor="ctr">
            <a:spAutoFit/>
          </a:bodyPr>
          <a:lstStyle/>
          <a:p>
            <a:pPr algn="l"/>
            <a:r>
              <a:rPr sz="2800" b="1">
                <a:solidFill>
                  <a:srgbClr val="0D202D"/>
                </a:solidFill>
                <a:latin typeface="Aptos"/>
              </a:rPr>
              <a:t>Prediction Method</a:t>
            </a:r>
          </a:p>
        </p:txBody>
      </p:sp>
      <p:sp>
        <p:nvSpPr>
          <p:cNvPr id="4" name="TextBox 3"/>
          <p:cNvSpPr txBox="1"/>
          <p:nvPr/>
        </p:nvSpPr>
        <p:spPr>
          <a:xfrm>
            <a:off x="11064240" y="347472"/>
            <a:ext cx="640080" cy="365760"/>
          </a:xfrm>
          <a:prstGeom prst="rect">
            <a:avLst/>
          </a:prstGeom>
          <a:noFill/>
        </p:spPr>
        <p:txBody>
          <a:bodyPr wrap="square" lIns="73152" rIns="73152" tIns="73152" bIns="73152" anchor="ctr">
            <a:spAutoFit/>
          </a:bodyPr>
          <a:lstStyle/>
          <a:p>
            <a:pPr algn="r"/>
            <a:r>
              <a:rPr sz="1400" b="1">
                <a:solidFill>
                  <a:srgbClr val="23855B"/>
                </a:solidFill>
                <a:latin typeface="Aptos"/>
              </a:rPr>
              <a:t>07</a:t>
            </a:r>
          </a:p>
        </p:txBody>
      </p:sp>
      <p:sp>
        <p:nvSpPr>
          <p:cNvPr id="5" name="TextBox 4"/>
          <p:cNvSpPr txBox="1"/>
          <p:nvPr/>
        </p:nvSpPr>
        <p:spPr>
          <a:xfrm>
            <a:off x="502920" y="6492240"/>
            <a:ext cx="11155680" cy="201168"/>
          </a:xfrm>
          <a:prstGeom prst="rect">
            <a:avLst/>
          </a:prstGeom>
          <a:noFill/>
        </p:spPr>
        <p:txBody>
          <a:bodyPr wrap="square" lIns="73152" rIns="73152" tIns="73152" bIns="73152" anchor="ctr">
            <a:spAutoFit/>
          </a:bodyPr>
          <a:lstStyle/>
          <a:p>
            <a:pPr algn="l"/>
            <a:r>
              <a:rPr sz="900" b="0">
                <a:solidFill>
                  <a:srgbClr val="5B6C74"/>
                </a:solidFill>
                <a:latin typeface="Aptos"/>
              </a:rPr>
              <a:t>CropSmart  |  BCA Final-Year Project  |  June 16, 2026</a:t>
            </a:r>
          </a:p>
        </p:txBody>
      </p:sp>
      <p:sp>
        <p:nvSpPr>
          <p:cNvPr id="6" name="Rounded Rectangle 5"/>
          <p:cNvSpPr/>
          <p:nvPr/>
        </p:nvSpPr>
        <p:spPr>
          <a:xfrm>
            <a:off x="594360" y="1143000"/>
            <a:ext cx="5257800" cy="438912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143000"/>
            <a:ext cx="73152" cy="4389120"/>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261872"/>
            <a:ext cx="4937760" cy="320040"/>
          </a:xfrm>
          <a:prstGeom prst="rect">
            <a:avLst/>
          </a:prstGeom>
          <a:noFill/>
        </p:spPr>
        <p:txBody>
          <a:bodyPr wrap="square" lIns="73152" rIns="73152" tIns="73152" bIns="73152" anchor="ctr">
            <a:spAutoFit/>
          </a:bodyPr>
          <a:lstStyle/>
          <a:p>
            <a:pPr algn="l"/>
            <a:r>
              <a:rPr sz="1600" b="1">
                <a:solidFill>
                  <a:srgbClr val="23855B"/>
                </a:solidFill>
                <a:latin typeface="Aptos"/>
              </a:rPr>
              <a:t>Path A: Observed Benchmark Series</a:t>
            </a:r>
          </a:p>
        </p:txBody>
      </p:sp>
      <p:sp>
        <p:nvSpPr>
          <p:cNvPr id="9" name="TextBox 8"/>
          <p:cNvSpPr txBox="1"/>
          <p:nvPr/>
        </p:nvSpPr>
        <p:spPr>
          <a:xfrm>
            <a:off x="777240" y="1627632"/>
            <a:ext cx="4937760" cy="3794759"/>
          </a:xfrm>
          <a:prstGeom prst="rect">
            <a:avLst/>
          </a:prstGeom>
          <a:noFill/>
        </p:spPr>
        <p:txBody>
          <a:bodyPr wrap="square" lIns="73152" rIns="73152" tIns="73152" bIns="73152" anchor="ctr">
            <a:spAutoFit/>
          </a:bodyPr>
          <a:lstStyle/>
          <a:p>
            <a:pPr algn="l"/>
            <a:r>
              <a:rPr sz="1200" b="0">
                <a:solidFill>
                  <a:srgbClr val="1F2E37"/>
                </a:solidFill>
                <a:latin typeface="Aptos"/>
              </a:rPr>
              <a:t>1. Load at least 36 monthly prices.
2. Build trend, seasonal sine/cosine, and 1-, 3-, and 12-month lag features.
3. Train ridge autoregression on older observations.
4. Test on the latest 6-12 months.
5. Forecast the next 24 months recursively.</a:t>
            </a:r>
          </a:p>
        </p:txBody>
      </p:sp>
      <p:sp>
        <p:nvSpPr>
          <p:cNvPr id="10" name="Rounded Rectangle 9"/>
          <p:cNvSpPr/>
          <p:nvPr/>
        </p:nvSpPr>
        <p:spPr>
          <a:xfrm>
            <a:off x="6309360" y="1143000"/>
            <a:ext cx="5257800" cy="438912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1143000"/>
            <a:ext cx="73152" cy="4389120"/>
          </a:xfrm>
          <a:prstGeom prst="rect">
            <a:avLst/>
          </a:prstGeom>
          <a:solidFill>
            <a:srgbClr val="CB7E24"/>
          </a:solidFill>
          <a:ln>
            <a:solidFill>
              <a:srgbClr val="CB7E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261872"/>
            <a:ext cx="4937760" cy="320040"/>
          </a:xfrm>
          <a:prstGeom prst="rect">
            <a:avLst/>
          </a:prstGeom>
          <a:noFill/>
        </p:spPr>
        <p:txBody>
          <a:bodyPr wrap="square" lIns="73152" rIns="73152" tIns="73152" bIns="73152" anchor="ctr">
            <a:spAutoFit/>
          </a:bodyPr>
          <a:lstStyle/>
          <a:p>
            <a:pPr algn="l"/>
            <a:r>
              <a:rPr sz="1600" b="1">
                <a:solidFill>
                  <a:srgbClr val="CB7E24"/>
                </a:solidFill>
                <a:latin typeface="Aptos"/>
              </a:rPr>
              <a:t>Path B: Scenario Fallback</a:t>
            </a:r>
          </a:p>
        </p:txBody>
      </p:sp>
      <p:sp>
        <p:nvSpPr>
          <p:cNvPr id="13" name="TextBox 12"/>
          <p:cNvSpPr txBox="1"/>
          <p:nvPr/>
        </p:nvSpPr>
        <p:spPr>
          <a:xfrm>
            <a:off x="6492240" y="1627632"/>
            <a:ext cx="4937760" cy="3794759"/>
          </a:xfrm>
          <a:prstGeom prst="rect">
            <a:avLst/>
          </a:prstGeom>
          <a:noFill/>
        </p:spPr>
        <p:txBody>
          <a:bodyPr wrap="square" lIns="73152" rIns="73152" tIns="73152" bIns="73152" anchor="ctr">
            <a:spAutoFit/>
          </a:bodyPr>
          <a:lstStyle/>
          <a:p>
            <a:pPr algn="l"/>
            <a:r>
              <a:rPr sz="1200" b="0">
                <a:solidFill>
                  <a:srgbClr val="1F2E37"/>
                </a:solidFill>
                <a:latin typeface="Aptos"/>
              </a:rPr>
              <a:t>Used when a crop has no suitable public historical series.
The ridge model uses crop, region, inflation, demand, fuel cost, climate, policy, risk, supply, and seasonality features.
The interface clearly labels this output as a scenario-model fallback.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9F7"/>
        </a:solidFill>
        <a:effectLst/>
      </p:bgPr>
    </p:bg>
    <p:spTree>
      <p:nvGrpSpPr>
        <p:cNvPr id="1" name=""/>
        <p:cNvGrpSpPr/>
        <p:nvPr/>
      </p:nvGrpSpPr>
      <p:grpSpPr/>
      <p:sp>
        <p:nvSpPr>
          <p:cNvPr id="2" name="Rectangle 1"/>
          <p:cNvSpPr/>
          <p:nvPr/>
        </p:nvSpPr>
        <p:spPr>
          <a:xfrm>
            <a:off x="0" y="0"/>
            <a:ext cx="12191695" cy="155448"/>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698480" cy="566928"/>
          </a:xfrm>
          <a:prstGeom prst="rect">
            <a:avLst/>
          </a:prstGeom>
          <a:noFill/>
        </p:spPr>
        <p:txBody>
          <a:bodyPr wrap="square" lIns="73152" rIns="73152" tIns="73152" bIns="73152" anchor="ctr">
            <a:spAutoFit/>
          </a:bodyPr>
          <a:lstStyle/>
          <a:p>
            <a:pPr algn="l"/>
            <a:r>
              <a:rPr sz="2800" b="1">
                <a:solidFill>
                  <a:srgbClr val="0D202D"/>
                </a:solidFill>
                <a:latin typeface="Aptos"/>
              </a:rPr>
              <a:t>Model Validation</a:t>
            </a:r>
          </a:p>
        </p:txBody>
      </p:sp>
      <p:sp>
        <p:nvSpPr>
          <p:cNvPr id="4" name="TextBox 3"/>
          <p:cNvSpPr txBox="1"/>
          <p:nvPr/>
        </p:nvSpPr>
        <p:spPr>
          <a:xfrm>
            <a:off x="11064240" y="347472"/>
            <a:ext cx="640080" cy="365760"/>
          </a:xfrm>
          <a:prstGeom prst="rect">
            <a:avLst/>
          </a:prstGeom>
          <a:noFill/>
        </p:spPr>
        <p:txBody>
          <a:bodyPr wrap="square" lIns="73152" rIns="73152" tIns="73152" bIns="73152" anchor="ctr">
            <a:spAutoFit/>
          </a:bodyPr>
          <a:lstStyle/>
          <a:p>
            <a:pPr algn="r"/>
            <a:r>
              <a:rPr sz="1400" b="1">
                <a:solidFill>
                  <a:srgbClr val="23855B"/>
                </a:solidFill>
                <a:latin typeface="Aptos"/>
              </a:rPr>
              <a:t>08</a:t>
            </a:r>
          </a:p>
        </p:txBody>
      </p:sp>
      <p:sp>
        <p:nvSpPr>
          <p:cNvPr id="5" name="TextBox 4"/>
          <p:cNvSpPr txBox="1"/>
          <p:nvPr/>
        </p:nvSpPr>
        <p:spPr>
          <a:xfrm>
            <a:off x="502920" y="6492240"/>
            <a:ext cx="11155680" cy="201168"/>
          </a:xfrm>
          <a:prstGeom prst="rect">
            <a:avLst/>
          </a:prstGeom>
          <a:noFill/>
        </p:spPr>
        <p:txBody>
          <a:bodyPr wrap="square" lIns="73152" rIns="73152" tIns="73152" bIns="73152" anchor="ctr">
            <a:spAutoFit/>
          </a:bodyPr>
          <a:lstStyle/>
          <a:p>
            <a:pPr algn="l"/>
            <a:r>
              <a:rPr sz="900" b="0">
                <a:solidFill>
                  <a:srgbClr val="5B6C74"/>
                </a:solidFill>
                <a:latin typeface="Aptos"/>
              </a:rPr>
              <a:t>CropSmart  |  BCA Final-Year Project  |  June 16, 2026</a:t>
            </a:r>
          </a:p>
        </p:txBody>
      </p:sp>
      <p:sp>
        <p:nvSpPr>
          <p:cNvPr id="6" name="Rounded Rectangle 5"/>
          <p:cNvSpPr/>
          <p:nvPr/>
        </p:nvSpPr>
        <p:spPr>
          <a:xfrm>
            <a:off x="640080" y="1143000"/>
            <a:ext cx="3337560" cy="4480560"/>
          </a:xfrm>
          <a:prstGeom prst="roundRect">
            <a:avLst/>
          </a:prstGeom>
          <a:solidFill>
            <a:srgbClr val="E2F4EB"/>
          </a:solidFill>
          <a:ln>
            <a:solidFill>
              <a:srgbClr val="E2F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2697480" cy="502920"/>
          </a:xfrm>
          <a:prstGeom prst="rect">
            <a:avLst/>
          </a:prstGeom>
          <a:noFill/>
        </p:spPr>
        <p:txBody>
          <a:bodyPr wrap="square" lIns="73152" rIns="73152" tIns="73152" bIns="73152" anchor="ctr">
            <a:spAutoFit/>
          </a:bodyPr>
          <a:lstStyle/>
          <a:p>
            <a:pPr algn="ctr"/>
            <a:r>
              <a:rPr sz="2200" b="1">
                <a:solidFill>
                  <a:srgbClr val="23855B"/>
                </a:solidFill>
                <a:latin typeface="Aptos"/>
              </a:rPr>
              <a:t>Chronological Holdout</a:t>
            </a:r>
          </a:p>
        </p:txBody>
      </p:sp>
      <p:sp>
        <p:nvSpPr>
          <p:cNvPr id="8" name="TextBox 7"/>
          <p:cNvSpPr txBox="1"/>
          <p:nvPr/>
        </p:nvSpPr>
        <p:spPr>
          <a:xfrm>
            <a:off x="914400" y="2240280"/>
            <a:ext cx="2788920" cy="2468880"/>
          </a:xfrm>
          <a:prstGeom prst="rect">
            <a:avLst/>
          </a:prstGeom>
          <a:noFill/>
        </p:spPr>
        <p:txBody>
          <a:bodyPr wrap="square" lIns="73152" rIns="73152" tIns="73152" bIns="73152" anchor="ctr">
            <a:spAutoFit/>
          </a:bodyPr>
          <a:lstStyle/>
          <a:p>
            <a:pPr algn="ctr"/>
            <a:r>
              <a:rPr sz="2000" b="1">
                <a:solidFill>
                  <a:srgbClr val="0D202D"/>
                </a:solidFill>
                <a:latin typeface="Aptos"/>
              </a:rPr>
              <a:t>TRAIN
Older monthly prices
↓
TEST
Latest 6-12 months</a:t>
            </a:r>
          </a:p>
        </p:txBody>
      </p:sp>
      <p:sp>
        <p:nvSpPr>
          <p:cNvPr id="9" name="Rounded Rectangle 8"/>
          <p:cNvSpPr/>
          <p:nvPr/>
        </p:nvSpPr>
        <p:spPr>
          <a:xfrm>
            <a:off x="4389120" y="1143000"/>
            <a:ext cx="3246120" cy="196596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143000"/>
            <a:ext cx="73152" cy="1965960"/>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261872"/>
            <a:ext cx="2926079" cy="320040"/>
          </a:xfrm>
          <a:prstGeom prst="rect">
            <a:avLst/>
          </a:prstGeom>
          <a:noFill/>
        </p:spPr>
        <p:txBody>
          <a:bodyPr wrap="square" lIns="73152" rIns="73152" tIns="73152" bIns="73152" anchor="ctr">
            <a:spAutoFit/>
          </a:bodyPr>
          <a:lstStyle/>
          <a:p>
            <a:pPr algn="l"/>
            <a:r>
              <a:rPr sz="1600" b="1">
                <a:solidFill>
                  <a:srgbClr val="23855B"/>
                </a:solidFill>
                <a:latin typeface="Aptos"/>
              </a:rPr>
              <a:t>MAPE</a:t>
            </a:r>
          </a:p>
        </p:txBody>
      </p:sp>
      <p:sp>
        <p:nvSpPr>
          <p:cNvPr id="12" name="TextBox 11"/>
          <p:cNvSpPr txBox="1"/>
          <p:nvPr/>
        </p:nvSpPr>
        <p:spPr>
          <a:xfrm>
            <a:off x="4572000" y="1627632"/>
            <a:ext cx="2926079" cy="1371600"/>
          </a:xfrm>
          <a:prstGeom prst="rect">
            <a:avLst/>
          </a:prstGeom>
          <a:noFill/>
        </p:spPr>
        <p:txBody>
          <a:bodyPr wrap="square" lIns="73152" rIns="73152" tIns="73152" bIns="73152" anchor="ctr">
            <a:spAutoFit/>
          </a:bodyPr>
          <a:lstStyle/>
          <a:p>
            <a:pPr algn="l"/>
            <a:r>
              <a:rPr sz="1200" b="0">
                <a:solidFill>
                  <a:srgbClr val="1F2E37"/>
                </a:solidFill>
                <a:latin typeface="Aptos"/>
              </a:rPr>
              <a:t>Mean Absolute Percentage Error measures the average percentage difference between actual and predicted prices.</a:t>
            </a:r>
          </a:p>
        </p:txBody>
      </p:sp>
      <p:sp>
        <p:nvSpPr>
          <p:cNvPr id="13" name="Rounded Rectangle 12"/>
          <p:cNvSpPr/>
          <p:nvPr/>
        </p:nvSpPr>
        <p:spPr>
          <a:xfrm>
            <a:off x="8001000" y="1143000"/>
            <a:ext cx="3246120" cy="196596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01000" y="1143000"/>
            <a:ext cx="73152" cy="1965960"/>
          </a:xfrm>
          <a:prstGeom prst="rect">
            <a:avLst/>
          </a:prstGeom>
          <a:solidFill>
            <a:srgbClr val="8D5BA6"/>
          </a:solidFill>
          <a:ln>
            <a:solidFill>
              <a:srgbClr val="8D5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79" y="1261872"/>
            <a:ext cx="2926079" cy="320040"/>
          </a:xfrm>
          <a:prstGeom prst="rect">
            <a:avLst/>
          </a:prstGeom>
          <a:noFill/>
        </p:spPr>
        <p:txBody>
          <a:bodyPr wrap="square" lIns="73152" rIns="73152" tIns="73152" bIns="73152" anchor="ctr">
            <a:spAutoFit/>
          </a:bodyPr>
          <a:lstStyle/>
          <a:p>
            <a:pPr algn="l"/>
            <a:r>
              <a:rPr sz="1600" b="1">
                <a:solidFill>
                  <a:srgbClr val="8D5BA6"/>
                </a:solidFill>
                <a:latin typeface="Aptos"/>
              </a:rPr>
              <a:t>R² Score</a:t>
            </a:r>
          </a:p>
        </p:txBody>
      </p:sp>
      <p:sp>
        <p:nvSpPr>
          <p:cNvPr id="16" name="TextBox 15"/>
          <p:cNvSpPr txBox="1"/>
          <p:nvPr/>
        </p:nvSpPr>
        <p:spPr>
          <a:xfrm>
            <a:off x="8183879" y="1627632"/>
            <a:ext cx="2926079" cy="1371600"/>
          </a:xfrm>
          <a:prstGeom prst="rect">
            <a:avLst/>
          </a:prstGeom>
          <a:noFill/>
        </p:spPr>
        <p:txBody>
          <a:bodyPr wrap="square" lIns="73152" rIns="73152" tIns="73152" bIns="73152" anchor="ctr">
            <a:spAutoFit/>
          </a:bodyPr>
          <a:lstStyle/>
          <a:p>
            <a:pPr algn="l"/>
            <a:r>
              <a:rPr sz="1200" b="0">
                <a:solidFill>
                  <a:srgbClr val="1F2E37"/>
                </a:solidFill>
                <a:latin typeface="Aptos"/>
              </a:rPr>
              <a:t>Measures how much variation is explained by the model. A value nearer to 1 is generally better.</a:t>
            </a:r>
          </a:p>
        </p:txBody>
      </p:sp>
      <p:sp>
        <p:nvSpPr>
          <p:cNvPr id="17" name="Rounded Rectangle 16"/>
          <p:cNvSpPr/>
          <p:nvPr/>
        </p:nvSpPr>
        <p:spPr>
          <a:xfrm>
            <a:off x="4389120" y="3520440"/>
            <a:ext cx="6858000" cy="2103120"/>
          </a:xfrm>
          <a:prstGeom prst="roundRect">
            <a:avLst/>
          </a:prstGeom>
          <a:solidFill>
            <a:srgbClr val="0D202D"/>
          </a:solidFill>
          <a:ln>
            <a:solidFill>
              <a:srgbClr val="0D20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3794760"/>
            <a:ext cx="6217920" cy="1417320"/>
          </a:xfrm>
          <a:prstGeom prst="rect">
            <a:avLst/>
          </a:prstGeom>
          <a:noFill/>
        </p:spPr>
        <p:txBody>
          <a:bodyPr wrap="square" lIns="73152" rIns="73152" tIns="73152" bIns="73152" anchor="ctr">
            <a:spAutoFit/>
          </a:bodyPr>
          <a:lstStyle/>
          <a:p>
            <a:pPr algn="ctr"/>
            <a:r>
              <a:rPr sz="1800" b="1">
                <a:solidFill>
                  <a:srgbClr val="FFFFFF"/>
                </a:solidFill>
                <a:latin typeface="Aptos"/>
              </a:rPr>
              <a:t>Honest viva point:
Generated fallback data demonstrates the ML pipeline, but verified local market data is required to prove real-world accuracy.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9F7"/>
        </a:solidFill>
        <a:effectLst/>
      </p:bgPr>
    </p:bg>
    <p:spTree>
      <p:nvGrpSpPr>
        <p:cNvPr id="1" name=""/>
        <p:cNvGrpSpPr/>
        <p:nvPr/>
      </p:nvGrpSpPr>
      <p:grpSpPr/>
      <p:sp>
        <p:nvSpPr>
          <p:cNvPr id="2" name="Rectangle 1"/>
          <p:cNvSpPr/>
          <p:nvPr/>
        </p:nvSpPr>
        <p:spPr>
          <a:xfrm>
            <a:off x="0" y="0"/>
            <a:ext cx="12191695" cy="155448"/>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698480" cy="566928"/>
          </a:xfrm>
          <a:prstGeom prst="rect">
            <a:avLst/>
          </a:prstGeom>
          <a:noFill/>
        </p:spPr>
        <p:txBody>
          <a:bodyPr wrap="square" lIns="73152" rIns="73152" tIns="73152" bIns="73152" anchor="ctr">
            <a:spAutoFit/>
          </a:bodyPr>
          <a:lstStyle/>
          <a:p>
            <a:pPr algn="l"/>
            <a:r>
              <a:rPr sz="2800" b="1">
                <a:solidFill>
                  <a:srgbClr val="0D202D"/>
                </a:solidFill>
                <a:latin typeface="Aptos"/>
              </a:rPr>
              <a:t>Dashboard Features</a:t>
            </a:r>
          </a:p>
        </p:txBody>
      </p:sp>
      <p:sp>
        <p:nvSpPr>
          <p:cNvPr id="4" name="TextBox 3"/>
          <p:cNvSpPr txBox="1"/>
          <p:nvPr/>
        </p:nvSpPr>
        <p:spPr>
          <a:xfrm>
            <a:off x="11064240" y="347472"/>
            <a:ext cx="640080" cy="365760"/>
          </a:xfrm>
          <a:prstGeom prst="rect">
            <a:avLst/>
          </a:prstGeom>
          <a:noFill/>
        </p:spPr>
        <p:txBody>
          <a:bodyPr wrap="square" lIns="73152" rIns="73152" tIns="73152" bIns="73152" anchor="ctr">
            <a:spAutoFit/>
          </a:bodyPr>
          <a:lstStyle/>
          <a:p>
            <a:pPr algn="r"/>
            <a:r>
              <a:rPr sz="1400" b="1">
                <a:solidFill>
                  <a:srgbClr val="23855B"/>
                </a:solidFill>
                <a:latin typeface="Aptos"/>
              </a:rPr>
              <a:t>09</a:t>
            </a:r>
          </a:p>
        </p:txBody>
      </p:sp>
      <p:sp>
        <p:nvSpPr>
          <p:cNvPr id="5" name="TextBox 4"/>
          <p:cNvSpPr txBox="1"/>
          <p:nvPr/>
        </p:nvSpPr>
        <p:spPr>
          <a:xfrm>
            <a:off x="502920" y="6492240"/>
            <a:ext cx="11155680" cy="201168"/>
          </a:xfrm>
          <a:prstGeom prst="rect">
            <a:avLst/>
          </a:prstGeom>
          <a:noFill/>
        </p:spPr>
        <p:txBody>
          <a:bodyPr wrap="square" lIns="73152" rIns="73152" tIns="73152" bIns="73152" anchor="ctr">
            <a:spAutoFit/>
          </a:bodyPr>
          <a:lstStyle/>
          <a:p>
            <a:pPr algn="l"/>
            <a:r>
              <a:rPr sz="900" b="0">
                <a:solidFill>
                  <a:srgbClr val="5B6C74"/>
                </a:solidFill>
                <a:latin typeface="Aptos"/>
              </a:rPr>
              <a:t>CropSmart  |  BCA Final-Year Project  |  June 16, 2026</a:t>
            </a:r>
          </a:p>
        </p:txBody>
      </p:sp>
      <p:sp>
        <p:nvSpPr>
          <p:cNvPr id="6" name="TextBox 5"/>
          <p:cNvSpPr txBox="1"/>
          <p:nvPr/>
        </p:nvSpPr>
        <p:spPr>
          <a:xfrm>
            <a:off x="685800" y="1143000"/>
            <a:ext cx="6400800" cy="4937760"/>
          </a:xfrm>
          <a:prstGeom prst="rect">
            <a:avLst/>
          </a:prstGeom>
          <a:noFill/>
        </p:spPr>
        <p:txBody>
          <a:bodyPr wrap="square" lIns="73152" rIns="73152">
            <a:spAutoFit/>
          </a:bodyPr>
          <a:lstStyle/>
          <a:p>
            <a:pPr>
              <a:spcAft>
                <a:spcPts val="1000"/>
              </a:spcAft>
              <a:defRPr sz="1700">
                <a:solidFill>
                  <a:srgbClr val="1F2E37"/>
                </a:solidFill>
                <a:latin typeface="Aptos"/>
              </a:defRPr>
            </a:pPr>
            <a:r>
              <a:t>•  Crop, region, currency, and forecast-period filters</a:t>
            </a:r>
          </a:p>
          <a:p>
            <a:pPr>
              <a:spcAft>
                <a:spcPts val="1000"/>
              </a:spcAft>
              <a:defRPr sz="1700">
                <a:solidFill>
                  <a:srgbClr val="1F2E37"/>
                </a:solidFill>
                <a:latin typeface="Aptos"/>
              </a:defRPr>
            </a:pPr>
            <a:r>
              <a:t>•  Current benchmark quote or labelled live-signal estimate</a:t>
            </a:r>
          </a:p>
          <a:p>
            <a:pPr>
              <a:spcAft>
                <a:spcPts val="1000"/>
              </a:spcAft>
              <a:defRPr sz="1700">
                <a:solidFill>
                  <a:srgbClr val="1F2E37"/>
                </a:solidFill>
                <a:latin typeface="Aptos"/>
              </a:defRPr>
            </a:pPr>
            <a:r>
              <a:t>•  Up to 10 years of historical price data</a:t>
            </a:r>
          </a:p>
          <a:p>
            <a:pPr>
              <a:spcAft>
                <a:spcPts val="1000"/>
              </a:spcAft>
              <a:defRPr sz="1700">
                <a:solidFill>
                  <a:srgbClr val="1F2E37"/>
                </a:solidFill>
                <a:latin typeface="Aptos"/>
              </a:defRPr>
            </a:pPr>
            <a:r>
              <a:t>•  24-month monthly price forecast</a:t>
            </a:r>
          </a:p>
          <a:p>
            <a:pPr>
              <a:spcAft>
                <a:spcPts val="1000"/>
              </a:spcAft>
              <a:defRPr sz="1700">
                <a:solidFill>
                  <a:srgbClr val="1F2E37"/>
                </a:solidFill>
                <a:latin typeface="Aptos"/>
              </a:defRPr>
            </a:pPr>
            <a:r>
              <a:t>•  Confidence, model type, observations, and holdout MAPE</a:t>
            </a:r>
          </a:p>
          <a:p>
            <a:pPr>
              <a:spcAft>
                <a:spcPts val="1000"/>
              </a:spcAft>
              <a:defRPr sz="1700">
                <a:solidFill>
                  <a:srgbClr val="1F2E37"/>
                </a:solidFill>
                <a:latin typeface="Aptos"/>
              </a:defRPr>
            </a:pPr>
            <a:r>
              <a:t>•  Main positive and negative price drivers</a:t>
            </a:r>
          </a:p>
          <a:p>
            <a:pPr>
              <a:spcAft>
                <a:spcPts val="1000"/>
              </a:spcAft>
              <a:defRPr sz="1700">
                <a:solidFill>
                  <a:srgbClr val="1F2E37"/>
                </a:solidFill>
                <a:latin typeface="Aptos"/>
              </a:defRPr>
            </a:pPr>
            <a:r>
              <a:t>•  Data-source and quality information</a:t>
            </a:r>
          </a:p>
          <a:p>
            <a:pPr>
              <a:spcAft>
                <a:spcPts val="1000"/>
              </a:spcAft>
              <a:defRPr sz="1700">
                <a:solidFill>
                  <a:srgbClr val="1F2E37"/>
                </a:solidFill>
                <a:latin typeface="Aptos"/>
              </a:defRPr>
            </a:pPr>
            <a:r>
              <a:t>•  CSV and JSON export</a:t>
            </a:r>
          </a:p>
        </p:txBody>
      </p:sp>
      <p:sp>
        <p:nvSpPr>
          <p:cNvPr id="7" name="Rounded Rectangle 6"/>
          <p:cNvSpPr/>
          <p:nvPr/>
        </p:nvSpPr>
        <p:spPr>
          <a:xfrm>
            <a:off x="7452360" y="1234440"/>
            <a:ext cx="3977639" cy="4480560"/>
          </a:xfrm>
          <a:prstGeom prst="roundRect">
            <a:avLst/>
          </a:prstGeom>
          <a:solidFill>
            <a:srgbClr val="0D202D"/>
          </a:solidFill>
          <a:ln>
            <a:solidFill>
              <a:srgbClr val="0D20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8120" y="1600200"/>
            <a:ext cx="3246120" cy="457200"/>
          </a:xfrm>
          <a:prstGeom prst="rect">
            <a:avLst/>
          </a:prstGeom>
          <a:noFill/>
        </p:spPr>
        <p:txBody>
          <a:bodyPr wrap="square" lIns="73152" rIns="73152" tIns="73152" bIns="73152" anchor="ctr">
            <a:spAutoFit/>
          </a:bodyPr>
          <a:lstStyle/>
          <a:p>
            <a:pPr algn="ctr"/>
            <a:r>
              <a:rPr sz="2300" b="1">
                <a:solidFill>
                  <a:srgbClr val="F4B43E"/>
                </a:solidFill>
                <a:latin typeface="Aptos"/>
              </a:rPr>
              <a:t>Supported Scope</a:t>
            </a:r>
          </a:p>
        </p:txBody>
      </p:sp>
      <p:sp>
        <p:nvSpPr>
          <p:cNvPr id="9" name="TextBox 8"/>
          <p:cNvSpPr txBox="1"/>
          <p:nvPr/>
        </p:nvSpPr>
        <p:spPr>
          <a:xfrm>
            <a:off x="7818120" y="2423160"/>
            <a:ext cx="3246120" cy="2560320"/>
          </a:xfrm>
          <a:prstGeom prst="rect">
            <a:avLst/>
          </a:prstGeom>
          <a:noFill/>
        </p:spPr>
        <p:txBody>
          <a:bodyPr wrap="square" lIns="73152" rIns="73152" tIns="73152" bIns="73152" anchor="ctr">
            <a:spAutoFit/>
          </a:bodyPr>
          <a:lstStyle/>
          <a:p>
            <a:pPr algn="ctr"/>
            <a:r>
              <a:rPr sz="2000" b="1">
                <a:solidFill>
                  <a:srgbClr val="FFFFFF"/>
                </a:solidFill>
                <a:latin typeface="Aptos"/>
              </a:rPr>
              <a:t>22
CROPS &amp; VARIANTS
14
GLOBAL REGIONS
4
CURRENCIES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9F7"/>
        </a:solidFill>
        <a:effectLst/>
      </p:bgPr>
    </p:bg>
    <p:spTree>
      <p:nvGrpSpPr>
        <p:cNvPr id="1" name=""/>
        <p:cNvGrpSpPr/>
        <p:nvPr/>
      </p:nvGrpSpPr>
      <p:grpSpPr/>
      <p:sp>
        <p:nvSpPr>
          <p:cNvPr id="2" name="Rectangle 1"/>
          <p:cNvSpPr/>
          <p:nvPr/>
        </p:nvSpPr>
        <p:spPr>
          <a:xfrm>
            <a:off x="0" y="0"/>
            <a:ext cx="12191695" cy="155448"/>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698480" cy="566928"/>
          </a:xfrm>
          <a:prstGeom prst="rect">
            <a:avLst/>
          </a:prstGeom>
          <a:noFill/>
        </p:spPr>
        <p:txBody>
          <a:bodyPr wrap="square" lIns="73152" rIns="73152" tIns="73152" bIns="73152" anchor="ctr">
            <a:spAutoFit/>
          </a:bodyPr>
          <a:lstStyle/>
          <a:p>
            <a:pPr algn="l"/>
            <a:r>
              <a:rPr sz="2800" b="1">
                <a:solidFill>
                  <a:srgbClr val="0D202D"/>
                </a:solidFill>
                <a:latin typeface="Aptos"/>
              </a:rPr>
              <a:t>Practical Demonstration</a:t>
            </a:r>
          </a:p>
        </p:txBody>
      </p:sp>
      <p:sp>
        <p:nvSpPr>
          <p:cNvPr id="4" name="TextBox 3"/>
          <p:cNvSpPr txBox="1"/>
          <p:nvPr/>
        </p:nvSpPr>
        <p:spPr>
          <a:xfrm>
            <a:off x="11064240" y="347472"/>
            <a:ext cx="640080" cy="365760"/>
          </a:xfrm>
          <a:prstGeom prst="rect">
            <a:avLst/>
          </a:prstGeom>
          <a:noFill/>
        </p:spPr>
        <p:txBody>
          <a:bodyPr wrap="square" lIns="73152" rIns="73152" tIns="73152" bIns="73152" anchor="ctr">
            <a:spAutoFit/>
          </a:bodyPr>
          <a:lstStyle/>
          <a:p>
            <a:pPr algn="r"/>
            <a:r>
              <a:rPr sz="1400" b="1">
                <a:solidFill>
                  <a:srgbClr val="23855B"/>
                </a:solidFill>
                <a:latin typeface="Aptos"/>
              </a:rPr>
              <a:t>10</a:t>
            </a:r>
          </a:p>
        </p:txBody>
      </p:sp>
      <p:sp>
        <p:nvSpPr>
          <p:cNvPr id="5" name="TextBox 4"/>
          <p:cNvSpPr txBox="1"/>
          <p:nvPr/>
        </p:nvSpPr>
        <p:spPr>
          <a:xfrm>
            <a:off x="502920" y="6492240"/>
            <a:ext cx="11155680" cy="201168"/>
          </a:xfrm>
          <a:prstGeom prst="rect">
            <a:avLst/>
          </a:prstGeom>
          <a:noFill/>
        </p:spPr>
        <p:txBody>
          <a:bodyPr wrap="square" lIns="73152" rIns="73152" tIns="73152" bIns="73152" anchor="ctr">
            <a:spAutoFit/>
          </a:bodyPr>
          <a:lstStyle/>
          <a:p>
            <a:pPr algn="l"/>
            <a:r>
              <a:rPr sz="900" b="0">
                <a:solidFill>
                  <a:srgbClr val="5B6C74"/>
                </a:solidFill>
                <a:latin typeface="Aptos"/>
              </a:rPr>
              <a:t>CropSmart  |  BCA Final-Year Project  |  June 16, 2026</a:t>
            </a:r>
          </a:p>
        </p:txBody>
      </p:sp>
      <p:sp>
        <p:nvSpPr>
          <p:cNvPr id="6" name="Rounded Rectangle 5"/>
          <p:cNvSpPr/>
          <p:nvPr/>
        </p:nvSpPr>
        <p:spPr>
          <a:xfrm>
            <a:off x="640080" y="1097280"/>
            <a:ext cx="4709160" cy="4526280"/>
          </a:xfrm>
          <a:prstGeom prst="roundRect">
            <a:avLst/>
          </a:prstGeom>
          <a:solidFill>
            <a:srgbClr val="0D202D"/>
          </a:solidFill>
          <a:ln>
            <a:solidFill>
              <a:srgbClr val="0D20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160520" cy="411480"/>
          </a:xfrm>
          <a:prstGeom prst="rect">
            <a:avLst/>
          </a:prstGeom>
          <a:noFill/>
        </p:spPr>
        <p:txBody>
          <a:bodyPr wrap="square" lIns="73152" rIns="73152" tIns="73152" bIns="73152" anchor="ctr">
            <a:spAutoFit/>
          </a:bodyPr>
          <a:lstStyle/>
          <a:p>
            <a:pPr algn="ctr"/>
            <a:r>
              <a:rPr sz="2000" b="1">
                <a:solidFill>
                  <a:srgbClr val="F4B43E"/>
                </a:solidFill>
                <a:latin typeface="Aptos"/>
              </a:rPr>
              <a:t>Hosted demo and local run</a:t>
            </a:r>
          </a:p>
        </p:txBody>
      </p:sp>
      <p:sp>
        <p:nvSpPr>
          <p:cNvPr id="8" name="TextBox 7"/>
          <p:cNvSpPr txBox="1"/>
          <p:nvPr/>
        </p:nvSpPr>
        <p:spPr>
          <a:xfrm>
            <a:off x="960120" y="2057400"/>
            <a:ext cx="4069080" cy="685800"/>
          </a:xfrm>
          <a:prstGeom prst="rect">
            <a:avLst/>
          </a:prstGeom>
          <a:noFill/>
        </p:spPr>
        <p:txBody>
          <a:bodyPr wrap="square" lIns="73152" rIns="73152" tIns="73152" bIns="73152" anchor="ctr">
            <a:spAutoFit/>
          </a:bodyPr>
          <a:lstStyle/>
          <a:p>
            <a:pPr algn="ctr"/>
            <a:r>
              <a:rPr sz="1800" b="1">
                <a:solidFill>
                  <a:srgbClr val="FFFFFF"/>
                </a:solidFill>
                <a:latin typeface="Consolas"/>
              </a:rPr>
              <a:t>GitHub Pages public URL</a:t>
            </a:r>
          </a:p>
        </p:txBody>
      </p:sp>
      <p:sp>
        <p:nvSpPr>
          <p:cNvPr id="9" name="TextBox 8"/>
          <p:cNvSpPr txBox="1"/>
          <p:nvPr/>
        </p:nvSpPr>
        <p:spPr>
          <a:xfrm>
            <a:off x="960120" y="2788920"/>
            <a:ext cx="4069080" cy="685800"/>
          </a:xfrm>
          <a:prstGeom prst="rect">
            <a:avLst/>
          </a:prstGeom>
          <a:noFill/>
        </p:spPr>
        <p:txBody>
          <a:bodyPr wrap="square" lIns="73152" rIns="73152" tIns="73152" bIns="73152" anchor="ctr">
            <a:spAutoFit/>
          </a:bodyPr>
          <a:lstStyle/>
          <a:p>
            <a:pPr algn="ctr"/>
            <a:r>
              <a:rPr sz="1800" b="1">
                <a:solidFill>
                  <a:srgbClr val="E2F4EB"/>
                </a:solidFill>
                <a:latin typeface="Consolas"/>
              </a:rPr>
              <a:t>python server.py</a:t>
            </a:r>
          </a:p>
        </p:txBody>
      </p:sp>
      <p:sp>
        <p:nvSpPr>
          <p:cNvPr id="10" name="TextBox 9"/>
          <p:cNvSpPr txBox="1"/>
          <p:nvPr/>
        </p:nvSpPr>
        <p:spPr>
          <a:xfrm>
            <a:off x="1051560" y="3840480"/>
            <a:ext cx="3886200" cy="1051560"/>
          </a:xfrm>
          <a:prstGeom prst="rect">
            <a:avLst/>
          </a:prstGeom>
          <a:noFill/>
        </p:spPr>
        <p:txBody>
          <a:bodyPr wrap="square" lIns="73152" rIns="73152" tIns="73152" bIns="73152" anchor="ctr">
            <a:spAutoFit/>
          </a:bodyPr>
          <a:lstStyle/>
          <a:p>
            <a:pPr algn="ctr"/>
            <a:r>
              <a:rPr sz="1700" b="1">
                <a:solidFill>
                  <a:srgbClr val="FFFFFF"/>
                </a:solidFill>
                <a:latin typeface="Aptos"/>
              </a:rPr>
              <a:t>Use Wheat or Rice - Basmati
India • INR • 6 or 12 months</a:t>
            </a:r>
          </a:p>
        </p:txBody>
      </p:sp>
      <p:sp>
        <p:nvSpPr>
          <p:cNvPr id="11" name="TextBox 10"/>
          <p:cNvSpPr txBox="1"/>
          <p:nvPr/>
        </p:nvSpPr>
        <p:spPr>
          <a:xfrm>
            <a:off x="5806440" y="1234440"/>
            <a:ext cx="5394960" cy="4480560"/>
          </a:xfrm>
          <a:prstGeom prst="rect">
            <a:avLst/>
          </a:prstGeom>
          <a:noFill/>
        </p:spPr>
        <p:txBody>
          <a:bodyPr wrap="square" lIns="73152" rIns="73152">
            <a:spAutoFit/>
          </a:bodyPr>
          <a:lstStyle/>
          <a:p>
            <a:pPr>
              <a:spcAft>
                <a:spcPts val="1000"/>
              </a:spcAft>
              <a:defRPr sz="1700">
                <a:solidFill>
                  <a:srgbClr val="1F2E37"/>
                </a:solidFill>
                <a:latin typeface="Aptos"/>
              </a:defRPr>
            </a:pPr>
            <a:r>
              <a:t>•  Explain the selected input values.</a:t>
            </a:r>
          </a:p>
          <a:p>
            <a:pPr>
              <a:spcAft>
                <a:spcPts val="1000"/>
              </a:spcAft>
              <a:defRPr sz="1700">
                <a:solidFill>
                  <a:srgbClr val="1F2E37"/>
                </a:solidFill>
                <a:latin typeface="Aptos"/>
              </a:defRPr>
            </a:pPr>
            <a:r>
              <a:t>•  Show today's price and its source label.</a:t>
            </a:r>
          </a:p>
          <a:p>
            <a:pPr>
              <a:spcAft>
                <a:spcPts val="1000"/>
              </a:spcAft>
              <a:defRPr sz="1700">
                <a:solidFill>
                  <a:srgbClr val="1F2E37"/>
                </a:solidFill>
                <a:latin typeface="Aptos"/>
              </a:defRPr>
            </a:pPr>
            <a:r>
              <a:t>•  Show historical and future charts.</a:t>
            </a:r>
          </a:p>
          <a:p>
            <a:pPr>
              <a:spcAft>
                <a:spcPts val="1000"/>
              </a:spcAft>
              <a:defRPr sz="1700">
                <a:solidFill>
                  <a:srgbClr val="1F2E37"/>
                </a:solidFill>
                <a:latin typeface="Aptos"/>
              </a:defRPr>
            </a:pPr>
            <a:r>
              <a:t>•  Point out model type, confidence, and MAPE.</a:t>
            </a:r>
          </a:p>
          <a:p>
            <a:pPr>
              <a:spcAft>
                <a:spcPts val="1000"/>
              </a:spcAft>
              <a:defRPr sz="1700">
                <a:solidFill>
                  <a:srgbClr val="1F2E37"/>
                </a:solidFill>
                <a:latin typeface="Aptos"/>
              </a:defRPr>
            </a:pPr>
            <a:r>
              <a:t>•  Explain the strongest price drivers.</a:t>
            </a:r>
          </a:p>
          <a:p>
            <a:pPr>
              <a:spcAft>
                <a:spcPts val="1000"/>
              </a:spcAft>
              <a:defRPr sz="1700">
                <a:solidFill>
                  <a:srgbClr val="1F2E37"/>
                </a:solidFill>
                <a:latin typeface="Aptos"/>
              </a:defRPr>
            </a:pPr>
            <a:r>
              <a:t>•  Export the result as CSV or JSON.</a:t>
            </a:r>
          </a:p>
          <a:p>
            <a:pPr>
              <a:spcAft>
                <a:spcPts val="1000"/>
              </a:spcAft>
              <a:defRPr sz="1700">
                <a:solidFill>
                  <a:srgbClr val="1F2E37"/>
                </a:solidFill>
                <a:latin typeface="Aptos"/>
              </a:defRPr>
            </a:pPr>
            <a:r>
              <a:t>•  Keep screenshots ready if internet access fails.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9F7"/>
        </a:solidFill>
        <a:effectLst/>
      </p:bgPr>
    </p:bg>
    <p:spTree>
      <p:nvGrpSpPr>
        <p:cNvPr id="1" name=""/>
        <p:cNvGrpSpPr/>
        <p:nvPr/>
      </p:nvGrpSpPr>
      <p:grpSpPr/>
      <p:sp>
        <p:nvSpPr>
          <p:cNvPr id="2" name="Rectangle 1"/>
          <p:cNvSpPr/>
          <p:nvPr/>
        </p:nvSpPr>
        <p:spPr>
          <a:xfrm>
            <a:off x="0" y="0"/>
            <a:ext cx="12191695" cy="155448"/>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698480" cy="566928"/>
          </a:xfrm>
          <a:prstGeom prst="rect">
            <a:avLst/>
          </a:prstGeom>
          <a:noFill/>
        </p:spPr>
        <p:txBody>
          <a:bodyPr wrap="square" lIns="73152" rIns="73152" tIns="73152" bIns="73152" anchor="ctr">
            <a:spAutoFit/>
          </a:bodyPr>
          <a:lstStyle/>
          <a:p>
            <a:pPr algn="l"/>
            <a:r>
              <a:rPr sz="2800" b="1">
                <a:solidFill>
                  <a:srgbClr val="0D202D"/>
                </a:solidFill>
                <a:latin typeface="Aptos"/>
              </a:rPr>
              <a:t>Deployment and Hosting</a:t>
            </a:r>
          </a:p>
        </p:txBody>
      </p:sp>
      <p:sp>
        <p:nvSpPr>
          <p:cNvPr id="4" name="TextBox 3"/>
          <p:cNvSpPr txBox="1"/>
          <p:nvPr/>
        </p:nvSpPr>
        <p:spPr>
          <a:xfrm>
            <a:off x="11064240" y="347472"/>
            <a:ext cx="640080" cy="365760"/>
          </a:xfrm>
          <a:prstGeom prst="rect">
            <a:avLst/>
          </a:prstGeom>
          <a:noFill/>
        </p:spPr>
        <p:txBody>
          <a:bodyPr wrap="square" lIns="73152" rIns="73152" tIns="73152" bIns="73152" anchor="ctr">
            <a:spAutoFit/>
          </a:bodyPr>
          <a:lstStyle/>
          <a:p>
            <a:pPr algn="r"/>
            <a:r>
              <a:rPr sz="1400" b="1">
                <a:solidFill>
                  <a:srgbClr val="23855B"/>
                </a:solidFill>
                <a:latin typeface="Aptos"/>
              </a:rPr>
              <a:t>11</a:t>
            </a:r>
          </a:p>
        </p:txBody>
      </p:sp>
      <p:sp>
        <p:nvSpPr>
          <p:cNvPr id="5" name="TextBox 4"/>
          <p:cNvSpPr txBox="1"/>
          <p:nvPr/>
        </p:nvSpPr>
        <p:spPr>
          <a:xfrm>
            <a:off x="502920" y="6492240"/>
            <a:ext cx="11155680" cy="201168"/>
          </a:xfrm>
          <a:prstGeom prst="rect">
            <a:avLst/>
          </a:prstGeom>
          <a:noFill/>
        </p:spPr>
        <p:txBody>
          <a:bodyPr wrap="square" lIns="73152" rIns="73152" tIns="73152" bIns="73152" anchor="ctr">
            <a:spAutoFit/>
          </a:bodyPr>
          <a:lstStyle/>
          <a:p>
            <a:pPr algn="l"/>
            <a:r>
              <a:rPr sz="900" b="0">
                <a:solidFill>
                  <a:srgbClr val="5B6C74"/>
                </a:solidFill>
                <a:latin typeface="Aptos"/>
              </a:rPr>
              <a:t>CropSmart  |  BCA Final-Year Project  |  June 16, 2026</a:t>
            </a:r>
          </a:p>
        </p:txBody>
      </p:sp>
      <p:sp>
        <p:nvSpPr>
          <p:cNvPr id="6" name="Rounded Rectangle 5"/>
          <p:cNvSpPr/>
          <p:nvPr/>
        </p:nvSpPr>
        <p:spPr>
          <a:xfrm>
            <a:off x="640080" y="1143000"/>
            <a:ext cx="5303520" cy="205740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143000"/>
            <a:ext cx="73152" cy="2057400"/>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261872"/>
            <a:ext cx="4983480" cy="320040"/>
          </a:xfrm>
          <a:prstGeom prst="rect">
            <a:avLst/>
          </a:prstGeom>
          <a:noFill/>
        </p:spPr>
        <p:txBody>
          <a:bodyPr wrap="square" lIns="73152" rIns="73152" tIns="73152" bIns="73152" anchor="ctr">
            <a:spAutoFit/>
          </a:bodyPr>
          <a:lstStyle/>
          <a:p>
            <a:pPr algn="l"/>
            <a:r>
              <a:rPr sz="1600" b="1">
                <a:solidFill>
                  <a:srgbClr val="23855B"/>
                </a:solidFill>
                <a:latin typeface="Aptos"/>
              </a:rPr>
              <a:t>Public Hosting</a:t>
            </a:r>
          </a:p>
        </p:txBody>
      </p:sp>
      <p:sp>
        <p:nvSpPr>
          <p:cNvPr id="9" name="TextBox 8"/>
          <p:cNvSpPr txBox="1"/>
          <p:nvPr/>
        </p:nvSpPr>
        <p:spPr>
          <a:xfrm>
            <a:off x="822959" y="1627632"/>
            <a:ext cx="4983480" cy="1463040"/>
          </a:xfrm>
          <a:prstGeom prst="rect">
            <a:avLst/>
          </a:prstGeom>
          <a:noFill/>
        </p:spPr>
        <p:txBody>
          <a:bodyPr wrap="square" lIns="73152" rIns="73152" tIns="73152" bIns="73152" anchor="ctr">
            <a:spAutoFit/>
          </a:bodyPr>
          <a:lstStyle/>
          <a:p>
            <a:pPr algn="l"/>
            <a:r>
              <a:rPr sz="1200" b="0">
                <a:solidFill>
                  <a:srgbClr val="1F2E37"/>
                </a:solidFill>
                <a:latin typeface="Aptos"/>
              </a:rPr>
              <a:t>Hosted on GitHub Pages because it is free, always available for static websites, and does not require a credit card.
Live URL:
ajay-prakash-pandey.github.io/crop-price-pridiction-web/</a:t>
            </a:r>
          </a:p>
        </p:txBody>
      </p:sp>
      <p:sp>
        <p:nvSpPr>
          <p:cNvPr id="10" name="Rounded Rectangle 9"/>
          <p:cNvSpPr/>
          <p:nvPr/>
        </p:nvSpPr>
        <p:spPr>
          <a:xfrm>
            <a:off x="6263640" y="1143000"/>
            <a:ext cx="5303520" cy="205740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143000"/>
            <a:ext cx="73152" cy="2057400"/>
          </a:xfrm>
          <a:prstGeom prst="rect">
            <a:avLst/>
          </a:prstGeom>
          <a:solidFill>
            <a:srgbClr val="27699C"/>
          </a:solidFill>
          <a:ln>
            <a:solidFill>
              <a:srgbClr val="2769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261872"/>
            <a:ext cx="4983480" cy="320040"/>
          </a:xfrm>
          <a:prstGeom prst="rect">
            <a:avLst/>
          </a:prstGeom>
          <a:noFill/>
        </p:spPr>
        <p:txBody>
          <a:bodyPr wrap="square" lIns="73152" rIns="73152" tIns="73152" bIns="73152" anchor="ctr">
            <a:spAutoFit/>
          </a:bodyPr>
          <a:lstStyle/>
          <a:p>
            <a:pPr algn="l"/>
            <a:r>
              <a:rPr sz="1600" b="1">
                <a:solidFill>
                  <a:srgbClr val="27699C"/>
                </a:solidFill>
                <a:latin typeface="Aptos"/>
              </a:rPr>
              <a:t>Static Demo Mode</a:t>
            </a:r>
          </a:p>
        </p:txBody>
      </p:sp>
      <p:sp>
        <p:nvSpPr>
          <p:cNvPr id="13" name="TextBox 12"/>
          <p:cNvSpPr txBox="1"/>
          <p:nvPr/>
        </p:nvSpPr>
        <p:spPr>
          <a:xfrm>
            <a:off x="6446520" y="1627632"/>
            <a:ext cx="4983480" cy="1463040"/>
          </a:xfrm>
          <a:prstGeom prst="rect">
            <a:avLst/>
          </a:prstGeom>
          <a:noFill/>
        </p:spPr>
        <p:txBody>
          <a:bodyPr wrap="square" lIns="73152" rIns="73152" tIns="73152" bIns="73152" anchor="ctr">
            <a:spAutoFit/>
          </a:bodyPr>
          <a:lstStyle/>
          <a:p>
            <a:pPr algn="l"/>
            <a:r>
              <a:rPr sz="1200" b="0">
                <a:solidFill>
                  <a:srgbClr val="1F2E37"/>
                </a:solidFill>
                <a:latin typeface="Aptos"/>
              </a:rPr>
              <a:t>GitHub Pages cannot run Python, so the browser uses saved crop and region assumptions for forecasts, history charts, and export.
This keeps the project demo accessible 24/7.</a:t>
            </a:r>
          </a:p>
        </p:txBody>
      </p:sp>
      <p:sp>
        <p:nvSpPr>
          <p:cNvPr id="14" name="Rounded Rectangle 13"/>
          <p:cNvSpPr/>
          <p:nvPr/>
        </p:nvSpPr>
        <p:spPr>
          <a:xfrm>
            <a:off x="640080" y="3657600"/>
            <a:ext cx="5303520" cy="1874519"/>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657600"/>
            <a:ext cx="73152" cy="1874519"/>
          </a:xfrm>
          <a:prstGeom prst="rect">
            <a:avLst/>
          </a:prstGeom>
          <a:solidFill>
            <a:srgbClr val="8D5BA6"/>
          </a:solidFill>
          <a:ln>
            <a:solidFill>
              <a:srgbClr val="8D5B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3776472"/>
            <a:ext cx="4983480" cy="320040"/>
          </a:xfrm>
          <a:prstGeom prst="rect">
            <a:avLst/>
          </a:prstGeom>
          <a:noFill/>
        </p:spPr>
        <p:txBody>
          <a:bodyPr wrap="square" lIns="73152" rIns="73152" tIns="73152" bIns="73152" anchor="ctr">
            <a:spAutoFit/>
          </a:bodyPr>
          <a:lstStyle/>
          <a:p>
            <a:pPr algn="l"/>
            <a:r>
              <a:rPr sz="1600" b="1">
                <a:solidFill>
                  <a:srgbClr val="8D5BA6"/>
                </a:solidFill>
                <a:latin typeface="Aptos"/>
              </a:rPr>
              <a:t>Full Backend Mode</a:t>
            </a:r>
          </a:p>
        </p:txBody>
      </p:sp>
      <p:sp>
        <p:nvSpPr>
          <p:cNvPr id="17" name="TextBox 16"/>
          <p:cNvSpPr txBox="1"/>
          <p:nvPr/>
        </p:nvSpPr>
        <p:spPr>
          <a:xfrm>
            <a:off x="822959" y="4142232"/>
            <a:ext cx="4983480" cy="1280160"/>
          </a:xfrm>
          <a:prstGeom prst="rect">
            <a:avLst/>
          </a:prstGeom>
          <a:noFill/>
        </p:spPr>
        <p:txBody>
          <a:bodyPr wrap="square" lIns="73152" rIns="73152" tIns="73152" bIns="73152" anchor="ctr">
            <a:spAutoFit/>
          </a:bodyPr>
          <a:lstStyle/>
          <a:p>
            <a:pPr algn="l"/>
            <a:r>
              <a:rPr sz="1200" b="0">
                <a:solidFill>
                  <a:srgbClr val="1F2E37"/>
                </a:solidFill>
                <a:latin typeface="Aptos"/>
              </a:rPr>
              <a:t>When server.py is running locally or on a Python host, the same frontend uses API endpoints for live signals, benchmark history, and backend exports.</a:t>
            </a:r>
          </a:p>
        </p:txBody>
      </p:sp>
      <p:sp>
        <p:nvSpPr>
          <p:cNvPr id="18" name="Rounded Rectangle 17"/>
          <p:cNvSpPr/>
          <p:nvPr/>
        </p:nvSpPr>
        <p:spPr>
          <a:xfrm>
            <a:off x="6263640" y="3657600"/>
            <a:ext cx="5303520" cy="1874519"/>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3657600"/>
            <a:ext cx="73152" cy="1874519"/>
          </a:xfrm>
          <a:prstGeom prst="rect">
            <a:avLst/>
          </a:prstGeom>
          <a:solidFill>
            <a:srgbClr val="CB7E24"/>
          </a:solidFill>
          <a:ln>
            <a:solidFill>
              <a:srgbClr val="CB7E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3776472"/>
            <a:ext cx="4983480" cy="320040"/>
          </a:xfrm>
          <a:prstGeom prst="rect">
            <a:avLst/>
          </a:prstGeom>
          <a:noFill/>
        </p:spPr>
        <p:txBody>
          <a:bodyPr wrap="square" lIns="73152" rIns="73152" tIns="73152" bIns="73152" anchor="ctr">
            <a:spAutoFit/>
          </a:bodyPr>
          <a:lstStyle/>
          <a:p>
            <a:pPr algn="l"/>
            <a:r>
              <a:rPr sz="1600" b="1">
                <a:solidFill>
                  <a:srgbClr val="CB7E24"/>
                </a:solidFill>
                <a:latin typeface="Aptos"/>
              </a:rPr>
              <a:t>Deployment Learning</a:t>
            </a:r>
          </a:p>
        </p:txBody>
      </p:sp>
      <p:sp>
        <p:nvSpPr>
          <p:cNvPr id="21" name="TextBox 20"/>
          <p:cNvSpPr txBox="1"/>
          <p:nvPr/>
        </p:nvSpPr>
        <p:spPr>
          <a:xfrm>
            <a:off x="6446520" y="4142232"/>
            <a:ext cx="4983480" cy="1280160"/>
          </a:xfrm>
          <a:prstGeom prst="rect">
            <a:avLst/>
          </a:prstGeom>
          <a:noFill/>
        </p:spPr>
        <p:txBody>
          <a:bodyPr wrap="square" lIns="73152" rIns="73152" tIns="73152" bIns="73152" anchor="ctr">
            <a:spAutoFit/>
          </a:bodyPr>
          <a:lstStyle/>
          <a:p>
            <a:pPr algn="l"/>
            <a:r>
              <a:rPr sz="1200" b="0">
                <a:solidFill>
                  <a:srgbClr val="1F2E37"/>
                </a:solidFill>
                <a:latin typeface="Aptos"/>
              </a:rPr>
              <a:t>The project demonstrates two practical deployment choices: a free public static demo and a Python backend version for live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9F7"/>
        </a:solidFill>
        <a:effectLst/>
      </p:bgPr>
    </p:bg>
    <p:spTree>
      <p:nvGrpSpPr>
        <p:cNvPr id="1" name=""/>
        <p:cNvGrpSpPr/>
        <p:nvPr/>
      </p:nvGrpSpPr>
      <p:grpSpPr/>
      <p:sp>
        <p:nvSpPr>
          <p:cNvPr id="2" name="Rectangle 1"/>
          <p:cNvSpPr/>
          <p:nvPr/>
        </p:nvSpPr>
        <p:spPr>
          <a:xfrm>
            <a:off x="0" y="0"/>
            <a:ext cx="12191695" cy="155448"/>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698480" cy="566928"/>
          </a:xfrm>
          <a:prstGeom prst="rect">
            <a:avLst/>
          </a:prstGeom>
          <a:noFill/>
        </p:spPr>
        <p:txBody>
          <a:bodyPr wrap="square" lIns="73152" rIns="73152" tIns="73152" bIns="73152" anchor="ctr">
            <a:spAutoFit/>
          </a:bodyPr>
          <a:lstStyle/>
          <a:p>
            <a:pPr algn="l"/>
            <a:r>
              <a:rPr sz="2800" b="1">
                <a:solidFill>
                  <a:srgbClr val="0D202D"/>
                </a:solidFill>
                <a:latin typeface="Aptos"/>
              </a:rPr>
              <a:t>Limitations and Future Scope</a:t>
            </a:r>
          </a:p>
        </p:txBody>
      </p:sp>
      <p:sp>
        <p:nvSpPr>
          <p:cNvPr id="4" name="TextBox 3"/>
          <p:cNvSpPr txBox="1"/>
          <p:nvPr/>
        </p:nvSpPr>
        <p:spPr>
          <a:xfrm>
            <a:off x="11064240" y="347472"/>
            <a:ext cx="640080" cy="365760"/>
          </a:xfrm>
          <a:prstGeom prst="rect">
            <a:avLst/>
          </a:prstGeom>
          <a:noFill/>
        </p:spPr>
        <p:txBody>
          <a:bodyPr wrap="square" lIns="73152" rIns="73152" tIns="73152" bIns="73152" anchor="ctr">
            <a:spAutoFit/>
          </a:bodyPr>
          <a:lstStyle/>
          <a:p>
            <a:pPr algn="r"/>
            <a:r>
              <a:rPr sz="1400" b="1">
                <a:solidFill>
                  <a:srgbClr val="23855B"/>
                </a:solidFill>
                <a:latin typeface="Aptos"/>
              </a:rPr>
              <a:t>12</a:t>
            </a:r>
          </a:p>
        </p:txBody>
      </p:sp>
      <p:sp>
        <p:nvSpPr>
          <p:cNvPr id="5" name="TextBox 4"/>
          <p:cNvSpPr txBox="1"/>
          <p:nvPr/>
        </p:nvSpPr>
        <p:spPr>
          <a:xfrm>
            <a:off x="502920" y="6492240"/>
            <a:ext cx="11155680" cy="201168"/>
          </a:xfrm>
          <a:prstGeom prst="rect">
            <a:avLst/>
          </a:prstGeom>
          <a:noFill/>
        </p:spPr>
        <p:txBody>
          <a:bodyPr wrap="square" lIns="73152" rIns="73152" tIns="73152" bIns="73152" anchor="ctr">
            <a:spAutoFit/>
          </a:bodyPr>
          <a:lstStyle/>
          <a:p>
            <a:pPr algn="l"/>
            <a:r>
              <a:rPr sz="900" b="0">
                <a:solidFill>
                  <a:srgbClr val="5B6C74"/>
                </a:solidFill>
                <a:latin typeface="Aptos"/>
              </a:rPr>
              <a:t>CropSmart  |  BCA Final-Year Project  |  June 16, 2026</a:t>
            </a:r>
          </a:p>
        </p:txBody>
      </p:sp>
      <p:sp>
        <p:nvSpPr>
          <p:cNvPr id="6" name="Rounded Rectangle 5"/>
          <p:cNvSpPr/>
          <p:nvPr/>
        </p:nvSpPr>
        <p:spPr>
          <a:xfrm>
            <a:off x="640080" y="1143000"/>
            <a:ext cx="5303520" cy="452628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143000"/>
            <a:ext cx="73152" cy="4526280"/>
          </a:xfrm>
          <a:prstGeom prst="rect">
            <a:avLst/>
          </a:prstGeom>
          <a:solidFill>
            <a:srgbClr val="B84848"/>
          </a:solidFill>
          <a:ln>
            <a:solidFill>
              <a:srgbClr val="B84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261872"/>
            <a:ext cx="4983480" cy="320040"/>
          </a:xfrm>
          <a:prstGeom prst="rect">
            <a:avLst/>
          </a:prstGeom>
          <a:noFill/>
        </p:spPr>
        <p:txBody>
          <a:bodyPr wrap="square" lIns="73152" rIns="73152" tIns="73152" bIns="73152" anchor="ctr">
            <a:spAutoFit/>
          </a:bodyPr>
          <a:lstStyle/>
          <a:p>
            <a:pPr algn="l"/>
            <a:r>
              <a:rPr sz="1600" b="1">
                <a:solidFill>
                  <a:srgbClr val="B84848"/>
                </a:solidFill>
                <a:latin typeface="Aptos"/>
              </a:rPr>
              <a:t>Current Limitations</a:t>
            </a:r>
          </a:p>
        </p:txBody>
      </p:sp>
      <p:sp>
        <p:nvSpPr>
          <p:cNvPr id="9" name="TextBox 8"/>
          <p:cNvSpPr txBox="1"/>
          <p:nvPr/>
        </p:nvSpPr>
        <p:spPr>
          <a:xfrm>
            <a:off x="822959" y="1627632"/>
            <a:ext cx="4983480" cy="3931920"/>
          </a:xfrm>
          <a:prstGeom prst="rect">
            <a:avLst/>
          </a:prstGeom>
          <a:noFill/>
        </p:spPr>
        <p:txBody>
          <a:bodyPr wrap="square" lIns="73152" rIns="73152" tIns="73152" bIns="73152" anchor="ctr">
            <a:spAutoFit/>
          </a:bodyPr>
          <a:lstStyle/>
          <a:p>
            <a:pPr algn="l"/>
            <a:r>
              <a:rPr sz="1200" b="0">
                <a:solidFill>
                  <a:srgbClr val="1F2E37"/>
                </a:solidFill>
                <a:latin typeface="Aptos"/>
              </a:rPr>
              <a:t>• Public futures are benchmark prices, not exact mandi prices.
• Not every crop has an observed public historical series.
• External APIs may be delayed or unavailable.
• Long-range predictions contain more uncertainty.
• Generated fallback data cannot prove real-market accuracy.</a:t>
            </a:r>
          </a:p>
        </p:txBody>
      </p:sp>
      <p:sp>
        <p:nvSpPr>
          <p:cNvPr id="10" name="Rounded Rectangle 9"/>
          <p:cNvSpPr/>
          <p:nvPr/>
        </p:nvSpPr>
        <p:spPr>
          <a:xfrm>
            <a:off x="6263640" y="1143000"/>
            <a:ext cx="5303520" cy="452628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143000"/>
            <a:ext cx="73152" cy="4526280"/>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261872"/>
            <a:ext cx="4983480" cy="320040"/>
          </a:xfrm>
          <a:prstGeom prst="rect">
            <a:avLst/>
          </a:prstGeom>
          <a:noFill/>
        </p:spPr>
        <p:txBody>
          <a:bodyPr wrap="square" lIns="73152" rIns="73152" tIns="73152" bIns="73152" anchor="ctr">
            <a:spAutoFit/>
          </a:bodyPr>
          <a:lstStyle/>
          <a:p>
            <a:pPr algn="l"/>
            <a:r>
              <a:rPr sz="1600" b="1">
                <a:solidFill>
                  <a:srgbClr val="23855B"/>
                </a:solidFill>
                <a:latin typeface="Aptos"/>
              </a:rPr>
              <a:t>Future Enhancements</a:t>
            </a:r>
          </a:p>
        </p:txBody>
      </p:sp>
      <p:sp>
        <p:nvSpPr>
          <p:cNvPr id="13" name="TextBox 12"/>
          <p:cNvSpPr txBox="1"/>
          <p:nvPr/>
        </p:nvSpPr>
        <p:spPr>
          <a:xfrm>
            <a:off x="6446520" y="1627632"/>
            <a:ext cx="4983480" cy="3931920"/>
          </a:xfrm>
          <a:prstGeom prst="rect">
            <a:avLst/>
          </a:prstGeom>
          <a:noFill/>
        </p:spPr>
        <p:txBody>
          <a:bodyPr wrap="square" lIns="73152" rIns="73152" tIns="73152" bIns="73152" anchor="ctr">
            <a:spAutoFit/>
          </a:bodyPr>
          <a:lstStyle/>
          <a:p>
            <a:pPr algn="l"/>
            <a:r>
              <a:rPr sz="1200" b="0">
                <a:solidFill>
                  <a:srgbClr val="1F2E37"/>
                </a:solidFill>
                <a:latin typeface="Aptos"/>
              </a:rPr>
              <a:t>• Add official Agmarknet and APMC datasets.
• Create district, mandi, crop-grade, and unit-specific models.
• Add prediction intervals and rolling backtests.
• Add login, watchlists, alerts, and maps.
• Deploy with a database and scheduled model refresh.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9F7"/>
        </a:solidFill>
        <a:effectLst/>
      </p:bgPr>
    </p:bg>
    <p:spTree>
      <p:nvGrpSpPr>
        <p:cNvPr id="1" name=""/>
        <p:cNvGrpSpPr/>
        <p:nvPr/>
      </p:nvGrpSpPr>
      <p:grpSpPr/>
      <p:sp>
        <p:nvSpPr>
          <p:cNvPr id="2" name="Rectangle 1"/>
          <p:cNvSpPr/>
          <p:nvPr/>
        </p:nvSpPr>
        <p:spPr>
          <a:xfrm>
            <a:off x="0" y="0"/>
            <a:ext cx="12191695" cy="155448"/>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698480" cy="566928"/>
          </a:xfrm>
          <a:prstGeom prst="rect">
            <a:avLst/>
          </a:prstGeom>
          <a:noFill/>
        </p:spPr>
        <p:txBody>
          <a:bodyPr wrap="square" lIns="73152" rIns="73152" tIns="73152" bIns="73152" anchor="ctr">
            <a:spAutoFit/>
          </a:bodyPr>
          <a:lstStyle/>
          <a:p>
            <a:pPr algn="l"/>
            <a:r>
              <a:rPr sz="2800" b="1">
                <a:solidFill>
                  <a:srgbClr val="0D202D"/>
                </a:solidFill>
                <a:latin typeface="Aptos"/>
              </a:rPr>
              <a:t>Key Viva Answers</a:t>
            </a:r>
          </a:p>
        </p:txBody>
      </p:sp>
      <p:sp>
        <p:nvSpPr>
          <p:cNvPr id="4" name="TextBox 3"/>
          <p:cNvSpPr txBox="1"/>
          <p:nvPr/>
        </p:nvSpPr>
        <p:spPr>
          <a:xfrm>
            <a:off x="11064240" y="347472"/>
            <a:ext cx="640080" cy="365760"/>
          </a:xfrm>
          <a:prstGeom prst="rect">
            <a:avLst/>
          </a:prstGeom>
          <a:noFill/>
        </p:spPr>
        <p:txBody>
          <a:bodyPr wrap="square" lIns="73152" rIns="73152" tIns="73152" bIns="73152" anchor="ctr">
            <a:spAutoFit/>
          </a:bodyPr>
          <a:lstStyle/>
          <a:p>
            <a:pPr algn="r"/>
            <a:r>
              <a:rPr sz="1400" b="1">
                <a:solidFill>
                  <a:srgbClr val="23855B"/>
                </a:solidFill>
                <a:latin typeface="Aptos"/>
              </a:rPr>
              <a:t>13</a:t>
            </a:r>
          </a:p>
        </p:txBody>
      </p:sp>
      <p:sp>
        <p:nvSpPr>
          <p:cNvPr id="5" name="TextBox 4"/>
          <p:cNvSpPr txBox="1"/>
          <p:nvPr/>
        </p:nvSpPr>
        <p:spPr>
          <a:xfrm>
            <a:off x="502920" y="6492240"/>
            <a:ext cx="11155680" cy="201168"/>
          </a:xfrm>
          <a:prstGeom prst="rect">
            <a:avLst/>
          </a:prstGeom>
          <a:noFill/>
        </p:spPr>
        <p:txBody>
          <a:bodyPr wrap="square" lIns="73152" rIns="73152" tIns="73152" bIns="73152" anchor="ctr">
            <a:spAutoFit/>
          </a:bodyPr>
          <a:lstStyle/>
          <a:p>
            <a:pPr algn="l"/>
            <a:r>
              <a:rPr sz="900" b="0">
                <a:solidFill>
                  <a:srgbClr val="5B6C74"/>
                </a:solidFill>
                <a:latin typeface="Aptos"/>
              </a:rPr>
              <a:t>CropSmart  |  BCA Final-Year Project  |  June 16, 2026</a:t>
            </a:r>
          </a:p>
        </p:txBody>
      </p:sp>
      <p:sp>
        <p:nvSpPr>
          <p:cNvPr id="6" name="Rounded Rectangle 5"/>
          <p:cNvSpPr/>
          <p:nvPr/>
        </p:nvSpPr>
        <p:spPr>
          <a:xfrm>
            <a:off x="594360" y="1078992"/>
            <a:ext cx="5212080" cy="123444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078992"/>
            <a:ext cx="73152" cy="1234440"/>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197864"/>
            <a:ext cx="4892040" cy="320040"/>
          </a:xfrm>
          <a:prstGeom prst="rect">
            <a:avLst/>
          </a:prstGeom>
          <a:noFill/>
        </p:spPr>
        <p:txBody>
          <a:bodyPr wrap="square" lIns="73152" rIns="73152" tIns="73152" bIns="73152" anchor="ctr">
            <a:spAutoFit/>
          </a:bodyPr>
          <a:lstStyle/>
          <a:p>
            <a:pPr algn="l"/>
            <a:r>
              <a:rPr sz="1600" b="1">
                <a:solidFill>
                  <a:srgbClr val="23855B"/>
                </a:solidFill>
                <a:latin typeface="Aptos"/>
              </a:rPr>
              <a:t>Project type?</a:t>
            </a:r>
          </a:p>
        </p:txBody>
      </p:sp>
      <p:sp>
        <p:nvSpPr>
          <p:cNvPr id="9" name="TextBox 8"/>
          <p:cNvSpPr txBox="1"/>
          <p:nvPr/>
        </p:nvSpPr>
        <p:spPr>
          <a:xfrm>
            <a:off x="777240" y="1563624"/>
            <a:ext cx="4892040" cy="640080"/>
          </a:xfrm>
          <a:prstGeom prst="rect">
            <a:avLst/>
          </a:prstGeom>
          <a:noFill/>
        </p:spPr>
        <p:txBody>
          <a:bodyPr wrap="square" lIns="73152" rIns="73152" tIns="73152" bIns="73152" anchor="ctr">
            <a:spAutoFit/>
          </a:bodyPr>
          <a:lstStyle/>
          <a:p>
            <a:pPr algn="l"/>
            <a:r>
              <a:rPr sz="1200" b="0">
                <a:solidFill>
                  <a:srgbClr val="1F2E37"/>
                </a:solidFill>
                <a:latin typeface="Aptos"/>
              </a:rPr>
              <a:t>A regression and time-series forecasting web application.</a:t>
            </a:r>
          </a:p>
        </p:txBody>
      </p:sp>
      <p:sp>
        <p:nvSpPr>
          <p:cNvPr id="10" name="Rounded Rectangle 9"/>
          <p:cNvSpPr/>
          <p:nvPr/>
        </p:nvSpPr>
        <p:spPr>
          <a:xfrm>
            <a:off x="6217920" y="1078992"/>
            <a:ext cx="5212080" cy="123444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078992"/>
            <a:ext cx="73152" cy="1234440"/>
          </a:xfrm>
          <a:prstGeom prst="rect">
            <a:avLst/>
          </a:prstGeom>
          <a:solidFill>
            <a:srgbClr val="27699C"/>
          </a:solidFill>
          <a:ln>
            <a:solidFill>
              <a:srgbClr val="2769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197864"/>
            <a:ext cx="4892040" cy="320040"/>
          </a:xfrm>
          <a:prstGeom prst="rect">
            <a:avLst/>
          </a:prstGeom>
          <a:noFill/>
        </p:spPr>
        <p:txBody>
          <a:bodyPr wrap="square" lIns="73152" rIns="73152" tIns="73152" bIns="73152" anchor="ctr">
            <a:spAutoFit/>
          </a:bodyPr>
          <a:lstStyle/>
          <a:p>
            <a:pPr algn="l"/>
            <a:r>
              <a:rPr sz="1600" b="1">
                <a:solidFill>
                  <a:srgbClr val="27699C"/>
                </a:solidFill>
                <a:latin typeface="Aptos"/>
              </a:rPr>
              <a:t>Why ridge regression?</a:t>
            </a:r>
          </a:p>
        </p:txBody>
      </p:sp>
      <p:sp>
        <p:nvSpPr>
          <p:cNvPr id="13" name="TextBox 12"/>
          <p:cNvSpPr txBox="1"/>
          <p:nvPr/>
        </p:nvSpPr>
        <p:spPr>
          <a:xfrm>
            <a:off x="6400800" y="1563624"/>
            <a:ext cx="4892040" cy="640080"/>
          </a:xfrm>
          <a:prstGeom prst="rect">
            <a:avLst/>
          </a:prstGeom>
          <a:noFill/>
        </p:spPr>
        <p:txBody>
          <a:bodyPr wrap="square" lIns="73152" rIns="73152" tIns="73152" bIns="73152" anchor="ctr">
            <a:spAutoFit/>
          </a:bodyPr>
          <a:lstStyle/>
          <a:p>
            <a:pPr algn="l"/>
            <a:r>
              <a:rPr sz="1200" b="0">
                <a:solidFill>
                  <a:srgbClr val="1F2E37"/>
                </a:solidFill>
                <a:latin typeface="Aptos"/>
              </a:rPr>
              <a:t>It is fast, interpretable, handles correlated features, and reduces overfitting.</a:t>
            </a:r>
          </a:p>
        </p:txBody>
      </p:sp>
      <p:sp>
        <p:nvSpPr>
          <p:cNvPr id="14" name="Rounded Rectangle 13"/>
          <p:cNvSpPr/>
          <p:nvPr/>
        </p:nvSpPr>
        <p:spPr>
          <a:xfrm>
            <a:off x="594360" y="2660904"/>
            <a:ext cx="5212080" cy="123444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2660904"/>
            <a:ext cx="73152" cy="1234440"/>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79776"/>
            <a:ext cx="4892040" cy="320040"/>
          </a:xfrm>
          <a:prstGeom prst="rect">
            <a:avLst/>
          </a:prstGeom>
          <a:noFill/>
        </p:spPr>
        <p:txBody>
          <a:bodyPr wrap="square" lIns="73152" rIns="73152" tIns="73152" bIns="73152" anchor="ctr">
            <a:spAutoFit/>
          </a:bodyPr>
          <a:lstStyle/>
          <a:p>
            <a:pPr algn="l"/>
            <a:r>
              <a:rPr sz="1600" b="1">
                <a:solidFill>
                  <a:srgbClr val="23855B"/>
                </a:solidFill>
                <a:latin typeface="Aptos"/>
              </a:rPr>
              <a:t>What is a lag?</a:t>
            </a:r>
          </a:p>
        </p:txBody>
      </p:sp>
      <p:sp>
        <p:nvSpPr>
          <p:cNvPr id="17" name="TextBox 16"/>
          <p:cNvSpPr txBox="1"/>
          <p:nvPr/>
        </p:nvSpPr>
        <p:spPr>
          <a:xfrm>
            <a:off x="777240" y="3145536"/>
            <a:ext cx="4892040" cy="640080"/>
          </a:xfrm>
          <a:prstGeom prst="rect">
            <a:avLst/>
          </a:prstGeom>
          <a:noFill/>
        </p:spPr>
        <p:txBody>
          <a:bodyPr wrap="square" lIns="73152" rIns="73152" tIns="73152" bIns="73152" anchor="ctr">
            <a:spAutoFit/>
          </a:bodyPr>
          <a:lstStyle/>
          <a:p>
            <a:pPr algn="l"/>
            <a:r>
              <a:rPr sz="1200" b="0">
                <a:solidFill>
                  <a:srgbClr val="1F2E37"/>
                </a:solidFill>
                <a:latin typeface="Aptos"/>
              </a:rPr>
              <a:t>A previous price value used as an input for forecasting.</a:t>
            </a:r>
          </a:p>
        </p:txBody>
      </p:sp>
      <p:sp>
        <p:nvSpPr>
          <p:cNvPr id="18" name="Rounded Rectangle 17"/>
          <p:cNvSpPr/>
          <p:nvPr/>
        </p:nvSpPr>
        <p:spPr>
          <a:xfrm>
            <a:off x="6217920" y="2660904"/>
            <a:ext cx="5212080" cy="123444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2660904"/>
            <a:ext cx="73152" cy="1234440"/>
          </a:xfrm>
          <a:prstGeom prst="rect">
            <a:avLst/>
          </a:prstGeom>
          <a:solidFill>
            <a:srgbClr val="27699C"/>
          </a:solidFill>
          <a:ln>
            <a:solidFill>
              <a:srgbClr val="2769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779776"/>
            <a:ext cx="4892040" cy="320040"/>
          </a:xfrm>
          <a:prstGeom prst="rect">
            <a:avLst/>
          </a:prstGeom>
          <a:noFill/>
        </p:spPr>
        <p:txBody>
          <a:bodyPr wrap="square" lIns="73152" rIns="73152" tIns="73152" bIns="73152" anchor="ctr">
            <a:spAutoFit/>
          </a:bodyPr>
          <a:lstStyle/>
          <a:p>
            <a:pPr algn="l"/>
            <a:r>
              <a:rPr sz="1600" b="1">
                <a:solidFill>
                  <a:srgbClr val="27699C"/>
                </a:solidFill>
                <a:latin typeface="Aptos"/>
              </a:rPr>
              <a:t>What is MAPE?</a:t>
            </a:r>
          </a:p>
        </p:txBody>
      </p:sp>
      <p:sp>
        <p:nvSpPr>
          <p:cNvPr id="21" name="TextBox 20"/>
          <p:cNvSpPr txBox="1"/>
          <p:nvPr/>
        </p:nvSpPr>
        <p:spPr>
          <a:xfrm>
            <a:off x="6400800" y="3145536"/>
            <a:ext cx="4892040" cy="640080"/>
          </a:xfrm>
          <a:prstGeom prst="rect">
            <a:avLst/>
          </a:prstGeom>
          <a:noFill/>
        </p:spPr>
        <p:txBody>
          <a:bodyPr wrap="square" lIns="73152" rIns="73152" tIns="73152" bIns="73152" anchor="ctr">
            <a:spAutoFit/>
          </a:bodyPr>
          <a:lstStyle/>
          <a:p>
            <a:pPr algn="l"/>
            <a:r>
              <a:rPr sz="1200" b="0">
                <a:solidFill>
                  <a:srgbClr val="1F2E37"/>
                </a:solidFill>
                <a:latin typeface="Aptos"/>
              </a:rPr>
              <a:t>Average prediction error expressed as a percentage; lower is better.</a:t>
            </a:r>
          </a:p>
        </p:txBody>
      </p:sp>
      <p:sp>
        <p:nvSpPr>
          <p:cNvPr id="22" name="Rounded Rectangle 21"/>
          <p:cNvSpPr/>
          <p:nvPr/>
        </p:nvSpPr>
        <p:spPr>
          <a:xfrm>
            <a:off x="594360" y="4242816"/>
            <a:ext cx="5212080" cy="123444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4360" y="4242816"/>
            <a:ext cx="73152" cy="1234440"/>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361688"/>
            <a:ext cx="4892040" cy="320040"/>
          </a:xfrm>
          <a:prstGeom prst="rect">
            <a:avLst/>
          </a:prstGeom>
          <a:noFill/>
        </p:spPr>
        <p:txBody>
          <a:bodyPr wrap="square" lIns="73152" rIns="73152" tIns="73152" bIns="73152" anchor="ctr">
            <a:spAutoFit/>
          </a:bodyPr>
          <a:lstStyle/>
          <a:p>
            <a:pPr algn="l"/>
            <a:r>
              <a:rPr sz="1600" b="1">
                <a:solidFill>
                  <a:srgbClr val="23855B"/>
                </a:solidFill>
                <a:latin typeface="Aptos"/>
              </a:rPr>
              <a:t>Is the price guaranteed?</a:t>
            </a:r>
          </a:p>
        </p:txBody>
      </p:sp>
      <p:sp>
        <p:nvSpPr>
          <p:cNvPr id="25" name="TextBox 24"/>
          <p:cNvSpPr txBox="1"/>
          <p:nvPr/>
        </p:nvSpPr>
        <p:spPr>
          <a:xfrm>
            <a:off x="777240" y="4727448"/>
            <a:ext cx="4892040" cy="640080"/>
          </a:xfrm>
          <a:prstGeom prst="rect">
            <a:avLst/>
          </a:prstGeom>
          <a:noFill/>
        </p:spPr>
        <p:txBody>
          <a:bodyPr wrap="square" lIns="73152" rIns="73152" tIns="73152" bIns="73152" anchor="ctr">
            <a:spAutoFit/>
          </a:bodyPr>
          <a:lstStyle/>
          <a:p>
            <a:pPr algn="l"/>
            <a:r>
              <a:rPr sz="1200" b="0">
                <a:solidFill>
                  <a:srgbClr val="1F2E37"/>
                </a:solidFill>
                <a:latin typeface="Aptos"/>
              </a:rPr>
              <a:t>No. It is a planning estimate affected by market uncertainty.</a:t>
            </a:r>
          </a:p>
        </p:txBody>
      </p:sp>
      <p:sp>
        <p:nvSpPr>
          <p:cNvPr id="26" name="Rounded Rectangle 25"/>
          <p:cNvSpPr/>
          <p:nvPr/>
        </p:nvSpPr>
        <p:spPr>
          <a:xfrm>
            <a:off x="6217920" y="4242816"/>
            <a:ext cx="5212080" cy="1234440"/>
          </a:xfrm>
          <a:prstGeom prst="roundRect">
            <a:avLst/>
          </a:prstGeom>
          <a:solidFill>
            <a:srgbClr val="FFFFFF"/>
          </a:solidFill>
          <a:ln>
            <a:solidFill>
              <a:srgbClr val="DAE5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4242816"/>
            <a:ext cx="73152" cy="1234440"/>
          </a:xfrm>
          <a:prstGeom prst="rect">
            <a:avLst/>
          </a:prstGeom>
          <a:solidFill>
            <a:srgbClr val="27699C"/>
          </a:solidFill>
          <a:ln>
            <a:solidFill>
              <a:srgbClr val="2769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4361688"/>
            <a:ext cx="4892040" cy="320040"/>
          </a:xfrm>
          <a:prstGeom prst="rect">
            <a:avLst/>
          </a:prstGeom>
          <a:noFill/>
        </p:spPr>
        <p:txBody>
          <a:bodyPr wrap="square" lIns="73152" rIns="73152" tIns="73152" bIns="73152" anchor="ctr">
            <a:spAutoFit/>
          </a:bodyPr>
          <a:lstStyle/>
          <a:p>
            <a:pPr algn="l"/>
            <a:r>
              <a:rPr sz="1600" b="1">
                <a:solidFill>
                  <a:srgbClr val="27699C"/>
                </a:solidFill>
                <a:latin typeface="Aptos"/>
              </a:rPr>
              <a:t>Main contribution?</a:t>
            </a:r>
          </a:p>
        </p:txBody>
      </p:sp>
      <p:sp>
        <p:nvSpPr>
          <p:cNvPr id="29" name="TextBox 28"/>
          <p:cNvSpPr txBox="1"/>
          <p:nvPr/>
        </p:nvSpPr>
        <p:spPr>
          <a:xfrm>
            <a:off x="6400800" y="4727448"/>
            <a:ext cx="4892040" cy="640080"/>
          </a:xfrm>
          <a:prstGeom prst="rect">
            <a:avLst/>
          </a:prstGeom>
          <a:noFill/>
        </p:spPr>
        <p:txBody>
          <a:bodyPr wrap="square" lIns="73152" rIns="73152" tIns="73152" bIns="73152" anchor="ctr">
            <a:spAutoFit/>
          </a:bodyPr>
          <a:lstStyle/>
          <a:p>
            <a:pPr algn="l"/>
            <a:r>
              <a:rPr sz="1200" b="0">
                <a:solidFill>
                  <a:srgbClr val="1F2E37"/>
                </a:solidFill>
                <a:latin typeface="Aptos"/>
              </a:rPr>
              <a:t>Current signals, history, forecast, explanation, validation, and export in one dashboard.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202D"/>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3855B"/>
          </a:solidFill>
          <a:ln>
            <a:solidFill>
              <a:srgbClr val="2385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10332720" cy="594360"/>
          </a:xfrm>
          <a:prstGeom prst="rect">
            <a:avLst/>
          </a:prstGeom>
          <a:noFill/>
        </p:spPr>
        <p:txBody>
          <a:bodyPr wrap="square" lIns="73152" rIns="73152" tIns="73152" bIns="73152" anchor="ctr">
            <a:spAutoFit/>
          </a:bodyPr>
          <a:lstStyle/>
          <a:p>
            <a:pPr algn="ctr"/>
            <a:r>
              <a:rPr sz="3400" b="1">
                <a:solidFill>
                  <a:srgbClr val="F4B43E"/>
                </a:solidFill>
                <a:latin typeface="Aptos"/>
              </a:rPr>
              <a:t>Conclusion</a:t>
            </a:r>
          </a:p>
        </p:txBody>
      </p:sp>
      <p:sp>
        <p:nvSpPr>
          <p:cNvPr id="4" name="TextBox 3"/>
          <p:cNvSpPr txBox="1"/>
          <p:nvPr/>
        </p:nvSpPr>
        <p:spPr>
          <a:xfrm>
            <a:off x="1280160" y="1691640"/>
            <a:ext cx="9601200" cy="2240280"/>
          </a:xfrm>
          <a:prstGeom prst="rect">
            <a:avLst/>
          </a:prstGeom>
          <a:noFill/>
        </p:spPr>
        <p:txBody>
          <a:bodyPr wrap="square" lIns="73152" rIns="73152" tIns="73152" bIns="73152" anchor="ctr">
            <a:spAutoFit/>
          </a:bodyPr>
          <a:lstStyle/>
          <a:p>
            <a:pPr algn="ctr"/>
            <a:r>
              <a:rPr sz="2500" b="1">
                <a:solidFill>
                  <a:srgbClr val="FFFFFF"/>
                </a:solidFill>
                <a:latin typeface="Aptos"/>
              </a:rPr>
              <a:t>CropSmart brings together public market signals,
historical benchmark data, transparent forecasting,
validation information, and reusable exports.</a:t>
            </a:r>
          </a:p>
        </p:txBody>
      </p:sp>
      <p:sp>
        <p:nvSpPr>
          <p:cNvPr id="5" name="TextBox 4"/>
          <p:cNvSpPr txBox="1"/>
          <p:nvPr/>
        </p:nvSpPr>
        <p:spPr>
          <a:xfrm>
            <a:off x="1417320" y="4251960"/>
            <a:ext cx="9326880" cy="640080"/>
          </a:xfrm>
          <a:prstGeom prst="rect">
            <a:avLst/>
          </a:prstGeom>
          <a:noFill/>
        </p:spPr>
        <p:txBody>
          <a:bodyPr wrap="square" lIns="73152" rIns="73152" tIns="73152" bIns="73152" anchor="ctr">
            <a:spAutoFit/>
          </a:bodyPr>
          <a:lstStyle/>
          <a:p>
            <a:pPr algn="ctr"/>
            <a:r>
              <a:rPr sz="1800" b="1">
                <a:solidFill>
                  <a:srgbClr val="E2F4EB"/>
                </a:solidFill>
                <a:latin typeface="Aptos"/>
              </a:rPr>
              <a:t>It is an academic decision-support system, not a guaranteed market oracle.</a:t>
            </a:r>
          </a:p>
        </p:txBody>
      </p:sp>
      <p:sp>
        <p:nvSpPr>
          <p:cNvPr id="6" name="TextBox 5"/>
          <p:cNvSpPr txBox="1"/>
          <p:nvPr/>
        </p:nvSpPr>
        <p:spPr>
          <a:xfrm>
            <a:off x="914400" y="5303520"/>
            <a:ext cx="10332720" cy="685800"/>
          </a:xfrm>
          <a:prstGeom prst="rect">
            <a:avLst/>
          </a:prstGeom>
          <a:noFill/>
        </p:spPr>
        <p:txBody>
          <a:bodyPr wrap="square" lIns="73152" rIns="73152" tIns="73152" bIns="73152" anchor="ctr">
            <a:spAutoFit/>
          </a:bodyPr>
          <a:lstStyle/>
          <a:p>
            <a:pPr algn="ctr"/>
            <a:r>
              <a:rPr sz="3400" b="1">
                <a:solidFill>
                  <a:srgbClr val="F4B43E"/>
                </a:solidFill>
                <a:latin typeface="Aptos"/>
              </a:rPr>
              <a:t>THANK YOU</a:t>
            </a:r>
          </a:p>
        </p:txBody>
      </p:sp>
      <p:sp>
        <p:nvSpPr>
          <p:cNvPr id="7" name="TextBox 6"/>
          <p:cNvSpPr txBox="1"/>
          <p:nvPr/>
        </p:nvSpPr>
        <p:spPr>
          <a:xfrm>
            <a:off x="914400" y="5989320"/>
            <a:ext cx="10332720" cy="320040"/>
          </a:xfrm>
          <a:prstGeom prst="rect">
            <a:avLst/>
          </a:prstGeom>
          <a:noFill/>
        </p:spPr>
        <p:txBody>
          <a:bodyPr wrap="square" lIns="73152" rIns="73152" tIns="73152" bIns="73152" anchor="ctr">
            <a:spAutoFit/>
          </a:bodyPr>
          <a:lstStyle/>
          <a:p>
            <a:pPr algn="ctr"/>
            <a:r>
              <a:rPr sz="1800" b="0">
                <a:solidFill>
                  <a:srgbClr val="FFFFFF"/>
                </a:solidFill>
                <a:latin typeface="Aptos"/>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