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2057400" cy="347472"/>
          </a:xfrm>
          <a:prstGeom prst="roundRect">
            <a:avLst>
              <a:gd name="adj" fmla="val 50000"/>
            </a:avLst>
          </a:prstGeom>
          <a:solidFill>
            <a:srgbClr val="2C765B"/>
          </a:solidFill>
          <a:ln>
            <a:solidFill>
              <a:srgbClr val="2C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Seminar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6809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5800">
                <a:solidFill>
                  <a:srgbClr val="FFFFFF"/>
                </a:solidFill>
              </a:defRPr>
            </a:pPr>
            <a:r>
              <a:rPr/>
              <a:t>CropSmart</a:t>
            </a:r>
          </a:p>
          <a:p>
            <a:pPr>
              <a:defRPr sz="2500">
                <a:solidFill>
                  <a:srgbClr val="D9E8DA"/>
                </a:solidFill>
              </a:defRPr>
            </a:pPr>
            <a:r>
              <a:rPr/>
              <a:t>Live Crop Price and Future Price Prediction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977639"/>
            <a:ext cx="3063240" cy="1005840"/>
          </a:xfrm>
          <a:prstGeom prst="roundRect">
            <a:avLst>
              <a:gd name="adj" fmla="val 6000"/>
            </a:avLst>
          </a:prstGeom>
          <a:solidFill>
            <a:srgbClr val="ECF5EE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Presented By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Name: __________________</a:t>
            </a:r>
            <a:br/>
            <a:r>
              <a:t>Class/Roll No: __________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5072" y="3977639"/>
            <a:ext cx="3063240" cy="1005840"/>
          </a:xfrm>
          <a:prstGeom prst="roundRect">
            <a:avLst>
              <a:gd name="adj" fmla="val 6000"/>
            </a:avLst>
          </a:prstGeom>
          <a:solidFill>
            <a:srgbClr val="ECF5EE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Technology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Python, HTML, CSS, JavaScript</a:t>
            </a:r>
            <a:br/>
            <a:r>
              <a:t>Live public data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3977639"/>
            <a:ext cx="3063240" cy="1005840"/>
          </a:xfrm>
          <a:prstGeom prst="roundRect">
            <a:avLst>
              <a:gd name="adj" fmla="val 6000"/>
            </a:avLst>
          </a:prstGeom>
          <a:solidFill>
            <a:srgbClr val="ECF5EE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Exam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Practical / CA Seminar</a:t>
            </a:r>
            <a:br/>
            <a:r>
              <a:t>Date: 16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rPr/>
              <a:t>CropSmart | Crop Price Prediction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Problem Statement</a:t>
            </a:r>
          </a:p>
          <a:p>
            <a:pPr>
              <a:defRPr sz="1400">
                <a:solidFill>
                  <a:srgbClr val="606C60"/>
                </a:solidFill>
              </a:defRPr>
            </a:pPr>
            <a:r>
              <a:t>Why this project is useful for farmers, buyers, and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5303520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4241C"/>
                </a:solidFill>
              </a:defRPr>
            </a:pPr>
            <a:r>
              <a:rPr/>
              <a:t>Crop prices change because of weather, demand, inflation, supply, transport cost, seasonality, and global risk.</a:t>
            </a:r>
          </a:p>
          <a:p>
            <a:pPr>
              <a:spcAft>
                <a:spcPts val="800"/>
              </a:spcAft>
              <a:defRPr sz="1900">
                <a:solidFill>
                  <a:srgbClr val="14241C"/>
                </a:solidFill>
              </a:defRPr>
            </a:pPr>
            <a:r>
              <a:rPr/>
              <a:t>Farmers and buyers need one place to view current market signals, historical trends, and future estimates.</a:t>
            </a:r>
          </a:p>
          <a:p>
            <a:pPr>
              <a:spcAft>
                <a:spcPts val="800"/>
              </a:spcAft>
              <a:defRPr sz="1900">
                <a:solidFill>
                  <a:srgbClr val="14241C"/>
                </a:solidFill>
              </a:defRPr>
            </a:pPr>
            <a:r>
              <a:rPr/>
              <a:t>The project combines public data, observed benchmark history, and forecasting in a browser dashboard.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508760"/>
            <a:ext cx="45262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Main Goal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Show today's price and predict the next 1, 3, 6, 12, or 24 months for a selected crop, region, and currency.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788920"/>
            <a:ext cx="4526280" cy="10058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t>Target Users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Farmers, traders, students, agri teams, and market researchers.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4069080"/>
            <a:ext cx="4526280" cy="10058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rPr/>
              <a:t>Output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Current price, 10-year history, 24-month forecast, holdout accuracy, price drivers, sources, and CSV/JSON export.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rPr/>
              <a:t>CropSmart | Crop Price Prediction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Project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1. Live Price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Display today's price using public benchmark data where available, otherwise live-signal estimate.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344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2. Future Prediction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Forecast selected periods and generate a complete 24-month monthly outlook.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344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3. Global Coverage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Support major crops and world regions such as India, USA, Brazil, China, EU, and more.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4. Explainability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Show climate, supply, inflation, demand, fuel, policy, and risk drivers with source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0632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5. Historical View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Display up to 10 years of observed benchmark closes, clearly separated from model-generated fallback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063240"/>
            <a:ext cx="3474720" cy="123444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6. Export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Download current, historical, and future prices as CSV or JSON.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rPr/>
              <a:t>CropSmart | Crop Price Prediction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System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index.html, styles.css, app.js</a:t>
            </a:r>
            <a:br/>
            <a:r>
              <a:t>User selects crop, region, currency, period.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23444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Backend API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server.py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API v2 handles health, options, prediction, and CSV/JSON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23444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Data Collector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data_collector.py</a:t>
            </a:r>
            <a:br/>
            <a:r>
              <a:t>Fetches inflation, GDP, weather, conflict, and market benchmark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Forecast Models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ml_model.py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Ridge autoregression for observed series; ridge scenario fallback for other crops.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10896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Data and Cache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data/*.json and *.csv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Stores live signals, benchmark history, training data, and model metadata.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108960"/>
            <a:ext cx="34290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Export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/api/export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Creates CSV or JSON containing current, historical, and 24-month forecast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rPr/>
              <a:t>CropSmart | Crop Price Prediction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20116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User Browser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HTML/CSS/JS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20116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Python Server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API v2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/api/predict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972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rPr/>
              <a:t>Public Sources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Yahoo, World Bank,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Open-Meteo, GDELT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88036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Forecast Engine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Observed-series ridge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or scenario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116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Output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Today + 10-year history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24-month forecast + export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468880"/>
            <a:ext cx="640080" cy="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532120" y="1554480"/>
            <a:ext cx="640080" cy="68580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32120" y="2697480"/>
            <a:ext cx="640080" cy="64008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1554480"/>
            <a:ext cx="640080" cy="68580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321040" y="2697480"/>
            <a:ext cx="640080" cy="640080"/>
          </a:xfrm>
          <a:prstGeom prst="line">
            <a:avLst/>
          </a:prstGeom>
          <a:ln w="30480">
            <a:solidFill>
              <a:srgbClr val="2C7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Flow: User input -&gt; API health check -&gt; live signals and benchmark history -&gt; forecast model -&gt; dashboard and CSV/JSON output.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rPr/>
              <a:t>CropSmart | Crop Price Prediction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Live Data Signals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Market Benchmark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Yahoo Finance monthly futures closes provide observed history for supported benchmark crops.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344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Economic Data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World Bank inflation and GDP growth indicators for selected region.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2344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Weather Data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Open-Meteo forecast data for temperature and rainfall.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0632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rPr/>
              <a:t>Risk Signal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GDELT news data contributes a conflict or unrest risk signal.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06324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Fallback and Cache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Cached responses reduce repeated calls. Missing exact quotes are labeled as live-signal or scenario estimates.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rPr/>
              <a:t>CropSmart | Crop Price Prediction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Prediction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486400" cy="4572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rPr/>
              <a:t>1. Validate API v2 and read crop, region, currency, and forecast period.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rPr/>
              <a:t>2. Collect live market, weather, economy, and risk signals; use cache when needed.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rPr/>
              <a:t>3. Load up to 10 years of monthly benchmark closes for supported crops.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rPr/>
              <a:t>4. Train a chronological ridge autoregression using trend, seasonality, and 1-, 3-, and 12-month lags.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rPr/>
              <a:t>5. Evaluate on a 6-12 month holdout, then recursively forecast 24 months.</a:t>
            </a:r>
          </a:p>
          <a:p>
            <a:pPr>
              <a:spcAft>
                <a:spcPts val="800"/>
              </a:spcAft>
              <a:defRPr sz="1700">
                <a:solidFill>
                  <a:srgbClr val="14241C"/>
                </a:solidFill>
              </a:defRPr>
            </a:pPr>
            <a:r>
              <a:rPr/>
              <a:t>6. For crops without a public series, use the labeled ridge scenario-model fallback.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417320"/>
            <a:ext cx="4251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Observed-Series Model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Log price = ridge(trend + seasonality + lagged prices)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2880360"/>
            <a:ext cx="4251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Validation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The dashboard reports holdout MAPE when observed benchmark history is available.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4343400"/>
            <a:ext cx="42519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rPr/>
              <a:t>Important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Benchmark futures are reference prices, not exact local mandi or farmgate prices.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rPr/>
              <a:t>CropSmart | Crop Price Prediction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Dashboard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Filters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Crop, country/region, currency, and forecast period.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1887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Today Price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Direct quote when available; otherwise a clearly labeled live-signal estimate.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887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Future Price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Selected-period estimate plus a full 24-month monthly forecast.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72600" y="1188720"/>
            <a:ext cx="21031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t>Confidence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t>Model risk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Trend Views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24-month forecast and 10-year historical chart.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92608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Model Details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Model type, observations, holdout MAPE, assumptions, and source quality.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92608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Drivers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Main factors increasing or decreasing the expected 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926080"/>
            <a:ext cx="2103120" cy="1097280"/>
          </a:xfrm>
          <a:prstGeom prst="roundRect">
            <a:avLst>
              <a:gd name="adj" fmla="val 6000"/>
            </a:avLst>
          </a:prstGeom>
          <a:solidFill>
            <a:srgbClr val="F8FAF5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CSV + JSON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Export current, historical, and future prices.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rPr/>
              <a:t>CropSmart | Crop Price Prediction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Practical Demo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39496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1. Run the project: python server.py 8100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2. Open browser: http://localhost:8100/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3. Select crop: Wheat or Rice - Basmati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4. Select region: India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5. Select currency: INR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6. Select period: 3, 6, 12, or 24 months</a:t>
            </a:r>
          </a:p>
          <a:p>
            <a:pPr>
              <a:spcAft>
                <a:spcPts val="800"/>
              </a:spcAft>
              <a:defRPr sz="1800">
                <a:solidFill>
                  <a:srgbClr val="14241C"/>
                </a:solidFill>
              </a:defRPr>
            </a:pPr>
            <a:r>
              <a:rPr/>
              <a:t>7. Show current price, observed history, forecast, model details, drivers, and export.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37960" y="137160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What to Explain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Observed benchmark history uses a time-series model. Unsupported crops are explicitly shown as scenario-model fallback.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278892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315D8F"/>
                </a:solidFill>
              </a:defRPr>
            </a:pPr>
            <a:r>
              <a:rPr/>
              <a:t>Sample Output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Today price + 10-year history + 24-month forecast + confidence + holdout MAPE where available.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4206240"/>
            <a:ext cx="44805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rPr/>
              <a:t>Export Files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Use Export CSV or Export JSON to download all price series and model metadata.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rPr/>
              <a:t>CropSmart | Crop Price Prediction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rPr/>
              <a:t>Model, Data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rPr/>
              <a:t>22 crops and crop variants across 14 global regions.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rPr/>
              <a:t>19 model features in the scenario fallback: crop, region, market, risk, and seasonality.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rPr/>
              <a:t>Local training dataset contains 36,960 generated feature rows for fallback model development.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rPr/>
              <a:t>Observed benchmark forecasting requires at least 36 monthly prices.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rPr/>
              <a:t>Chronological holdout uses 6-12 recent months and reports MAPE and R2.</a:t>
            </a:r>
          </a:p>
          <a:p>
            <a:pPr>
              <a:spcAft>
                <a:spcPts val="800"/>
              </a:spcAft>
              <a:defRPr sz="2200">
                <a:solidFill>
                  <a:srgbClr val="14241C"/>
                </a:solidFill>
              </a:defRPr>
            </a:pPr>
            <a:r>
              <a:rPr/>
              <a:t>Prediction responses include model type, source, observation count, confidence, and limitations.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rPr/>
              <a:t>CropSmart | Crop Price Prediction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4241C"/>
                </a:solidFill>
              </a:defRPr>
            </a:pPr>
            <a:r>
              <a:t>Limitations and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BF7A24"/>
                </a:solidFill>
              </a:defRPr>
            </a:pPr>
            <a:r>
              <a:rPr/>
              <a:t>Limitations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Public futures benchmarks do not equal exact local mandi prices.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Only supported crops currently have observed benchmark history.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The fallback training dataset is generated, so its accuracy metrics are not evidence of real-market performance.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Internet or API failures can require cached data and fallback estimates.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801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9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28016"/>
          <a:lstStyle/>
          <a:p>
            <a:pPr algn="ctr">
              <a:defRPr b="1" sz="1700">
                <a:solidFill>
                  <a:srgbClr val="2C765B"/>
                </a:solidFill>
              </a:defRPr>
            </a:pPr>
            <a:r>
              <a:rPr/>
              <a:t>Future Scope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Add official Agmarknet/APMC and crop-grade datasets.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Expand observed series and perform rolling backtests.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Add uncertainty intervals, alerts, maps, and saved watchlists.</a:t>
            </a:r>
          </a:p>
          <a:p>
            <a:pPr>
              <a:spcBef>
                <a:spcPts val="800"/>
              </a:spcBef>
              <a:defRPr sz="1300">
                <a:solidFill>
                  <a:srgbClr val="14241C"/>
                </a:solidFill>
              </a:defRPr>
            </a:pPr>
            <a:r>
              <a:rPr/>
              <a:t>- Deploy with a database, authentication, and scheduled model refresh.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rPr/>
              <a:t>CropSmart | Crop Price Prediction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9966960" cy="2377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/>
              <a:t>CropSmart combines current public signals, observed benchmark history, and transparent forecasting in one dashboard.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/>
              <a:t>It provides a 10-year historical view, 24-month outlook, model metadata, source notes, and reusable exports.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/>
              <a:t>Its strongest next step is adding verified local mandi data for location- and grade-specific forecasts.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25780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2C765B"/>
          </a:solidFill>
          <a:ln>
            <a:solidFill>
              <a:srgbClr val="2C7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06C60"/>
                </a:solidFill>
              </a:defRPr>
            </a:pPr>
            <a:r>
              <a:rPr/>
              <a:t>CropSmart | Crop Price Prediction |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